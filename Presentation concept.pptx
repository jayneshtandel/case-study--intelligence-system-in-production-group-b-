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26" r:id="rId2"/>
  </p:sldMasterIdLst>
  <p:notesMasterIdLst>
    <p:notesMasterId r:id="rId16"/>
  </p:notesMasterIdLst>
  <p:sldIdLst>
    <p:sldId id="265" r:id="rId3"/>
    <p:sldId id="270" r:id="rId4"/>
    <p:sldId id="257" r:id="rId5"/>
    <p:sldId id="258" r:id="rId6"/>
    <p:sldId id="259" r:id="rId7"/>
    <p:sldId id="260" r:id="rId8"/>
    <p:sldId id="268" r:id="rId9"/>
    <p:sldId id="261" r:id="rId10"/>
    <p:sldId id="269" r:id="rId11"/>
    <p:sldId id="262" r:id="rId12"/>
    <p:sldId id="263" r:id="rId13"/>
    <p:sldId id="267" r:id="rId14"/>
    <p:sldId id="266" r:id="rId1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85ADD2-70FC-4243-AD9A-B1C51F0A5770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BCEE466-E2BF-4E8E-8AF7-8CE2C2E9A9C3}">
      <dgm:prSet/>
      <dgm:spPr/>
      <dgm:t>
        <a:bodyPr/>
        <a:lstStyle/>
        <a:p>
          <a:r>
            <a:rPr lang="en-GB" dirty="0">
              <a:latin typeface="Times New Roman"/>
              <a:cs typeface="Times New Roman"/>
            </a:rPr>
            <a:t>CNN extracts short-term patterns.</a:t>
          </a:r>
          <a:endParaRPr lang="en-US" dirty="0">
            <a:latin typeface="Times New Roman"/>
            <a:cs typeface="Times New Roman"/>
          </a:endParaRPr>
        </a:p>
      </dgm:t>
    </dgm:pt>
    <dgm:pt modelId="{04D73378-4D45-4FEB-A90F-FB2E98D9296E}" type="parTrans" cxnId="{C5956BDE-D894-4DDE-9181-60F7624B2C9C}">
      <dgm:prSet/>
      <dgm:spPr/>
      <dgm:t>
        <a:bodyPr/>
        <a:lstStyle/>
        <a:p>
          <a:endParaRPr lang="en-US"/>
        </a:p>
      </dgm:t>
    </dgm:pt>
    <dgm:pt modelId="{10EE863A-06C8-4A5F-B315-25C922CB1114}" type="sibTrans" cxnId="{C5956BDE-D894-4DDE-9181-60F7624B2C9C}">
      <dgm:prSet/>
      <dgm:spPr/>
      <dgm:t>
        <a:bodyPr/>
        <a:lstStyle/>
        <a:p>
          <a:endParaRPr lang="en-US"/>
        </a:p>
      </dgm:t>
    </dgm:pt>
    <dgm:pt modelId="{E0787EF1-F3E6-4017-8066-6081B9771004}">
      <dgm:prSet/>
      <dgm:spPr/>
      <dgm:t>
        <a:bodyPr/>
        <a:lstStyle/>
        <a:p>
          <a:r>
            <a:rPr lang="en-GB" dirty="0" err="1">
              <a:latin typeface="Times New Roman"/>
              <a:cs typeface="Times New Roman"/>
            </a:rPr>
            <a:t>BiLSTM</a:t>
          </a:r>
          <a:r>
            <a:rPr lang="en-GB" dirty="0">
              <a:latin typeface="Times New Roman"/>
              <a:cs typeface="Times New Roman"/>
            </a:rPr>
            <a:t> captures long-term dependencies.</a:t>
          </a:r>
          <a:endParaRPr lang="en-US" dirty="0">
            <a:latin typeface="Times New Roman"/>
            <a:cs typeface="Times New Roman"/>
          </a:endParaRPr>
        </a:p>
      </dgm:t>
    </dgm:pt>
    <dgm:pt modelId="{D2A7D9DF-F6AF-483B-9761-D4D8F2B7743D}" type="parTrans" cxnId="{638845CD-85EE-4803-AE44-3172CC455D53}">
      <dgm:prSet/>
      <dgm:spPr/>
      <dgm:t>
        <a:bodyPr/>
        <a:lstStyle/>
        <a:p>
          <a:endParaRPr lang="en-US"/>
        </a:p>
      </dgm:t>
    </dgm:pt>
    <dgm:pt modelId="{137F4DB7-C19F-442F-9FCF-BA710817D2CF}" type="sibTrans" cxnId="{638845CD-85EE-4803-AE44-3172CC455D53}">
      <dgm:prSet/>
      <dgm:spPr/>
      <dgm:t>
        <a:bodyPr/>
        <a:lstStyle/>
        <a:p>
          <a:endParaRPr lang="en-US"/>
        </a:p>
      </dgm:t>
    </dgm:pt>
    <dgm:pt modelId="{F1840CBE-15EA-4744-8D6C-D827DA0BD54F}">
      <dgm:prSet/>
      <dgm:spPr/>
      <dgm:t>
        <a:bodyPr/>
        <a:lstStyle/>
        <a:p>
          <a:r>
            <a:rPr lang="en-GB" dirty="0">
              <a:latin typeface="Times New Roman"/>
              <a:cs typeface="Times New Roman"/>
            </a:rPr>
            <a:t>Output: predicted lead time (days).</a:t>
          </a:r>
          <a:endParaRPr lang="en-US" dirty="0">
            <a:latin typeface="Times New Roman"/>
            <a:cs typeface="Times New Roman"/>
          </a:endParaRPr>
        </a:p>
      </dgm:t>
    </dgm:pt>
    <dgm:pt modelId="{AF3B817E-0535-4695-8C99-F0C75D6F423C}" type="parTrans" cxnId="{69D12CB2-59D5-4449-A2B0-5D4C89BFE8ED}">
      <dgm:prSet/>
      <dgm:spPr/>
      <dgm:t>
        <a:bodyPr/>
        <a:lstStyle/>
        <a:p>
          <a:endParaRPr lang="en-US"/>
        </a:p>
      </dgm:t>
    </dgm:pt>
    <dgm:pt modelId="{1D9D64FF-EDF7-472C-A5E5-980650CCE6D8}" type="sibTrans" cxnId="{69D12CB2-59D5-4449-A2B0-5D4C89BFE8ED}">
      <dgm:prSet/>
      <dgm:spPr/>
      <dgm:t>
        <a:bodyPr/>
        <a:lstStyle/>
        <a:p>
          <a:endParaRPr lang="en-US"/>
        </a:p>
      </dgm:t>
    </dgm:pt>
    <dgm:pt modelId="{A056A221-DBC7-4796-8204-5A7D28B01009}">
      <dgm:prSet/>
      <dgm:spPr/>
      <dgm:t>
        <a:bodyPr/>
        <a:lstStyle/>
        <a:p>
          <a:r>
            <a:rPr lang="en-GB" dirty="0">
              <a:latin typeface="Times New Roman"/>
              <a:cs typeface="Times New Roman"/>
            </a:rPr>
            <a:t>Evaluation: MSE, RMSE, MAE.</a:t>
          </a:r>
          <a:endParaRPr lang="en-US" dirty="0">
            <a:latin typeface="Times New Roman"/>
            <a:cs typeface="Times New Roman"/>
          </a:endParaRPr>
        </a:p>
      </dgm:t>
    </dgm:pt>
    <dgm:pt modelId="{60928319-F76A-4F0E-9A20-CB08BDD067E9}" type="parTrans" cxnId="{12D6BB39-44EF-458F-9686-35E0D5FDEA62}">
      <dgm:prSet/>
      <dgm:spPr/>
      <dgm:t>
        <a:bodyPr/>
        <a:lstStyle/>
        <a:p>
          <a:endParaRPr lang="en-US"/>
        </a:p>
      </dgm:t>
    </dgm:pt>
    <dgm:pt modelId="{BA8FEDF5-7933-4999-8877-5D80596189A5}" type="sibTrans" cxnId="{12D6BB39-44EF-458F-9686-35E0D5FDEA62}">
      <dgm:prSet/>
      <dgm:spPr/>
      <dgm:t>
        <a:bodyPr/>
        <a:lstStyle/>
        <a:p>
          <a:endParaRPr lang="en-US"/>
        </a:p>
      </dgm:t>
    </dgm:pt>
    <dgm:pt modelId="{BCC3E58F-04D5-4D81-B293-68A814F7B1B7}" type="pres">
      <dgm:prSet presAssocID="{4285ADD2-70FC-4243-AD9A-B1C51F0A5770}" presName="diagram" presStyleCnt="0">
        <dgm:presLayoutVars>
          <dgm:dir/>
          <dgm:resizeHandles val="exact"/>
        </dgm:presLayoutVars>
      </dgm:prSet>
      <dgm:spPr/>
    </dgm:pt>
    <dgm:pt modelId="{9ABC6002-E7D3-4E87-BFB3-0551FEEC4A10}" type="pres">
      <dgm:prSet presAssocID="{DBCEE466-E2BF-4E8E-8AF7-8CE2C2E9A9C3}" presName="node" presStyleLbl="node1" presStyleIdx="0" presStyleCnt="4">
        <dgm:presLayoutVars>
          <dgm:bulletEnabled val="1"/>
        </dgm:presLayoutVars>
      </dgm:prSet>
      <dgm:spPr/>
    </dgm:pt>
    <dgm:pt modelId="{2CF66491-574F-4E6E-B2ED-358866E35582}" type="pres">
      <dgm:prSet presAssocID="{10EE863A-06C8-4A5F-B315-25C922CB1114}" presName="sibTrans" presStyleCnt="0"/>
      <dgm:spPr/>
    </dgm:pt>
    <dgm:pt modelId="{758975B9-666E-4C63-9FC2-BDAD3334BBBD}" type="pres">
      <dgm:prSet presAssocID="{E0787EF1-F3E6-4017-8066-6081B9771004}" presName="node" presStyleLbl="node1" presStyleIdx="1" presStyleCnt="4">
        <dgm:presLayoutVars>
          <dgm:bulletEnabled val="1"/>
        </dgm:presLayoutVars>
      </dgm:prSet>
      <dgm:spPr/>
    </dgm:pt>
    <dgm:pt modelId="{259A6968-443E-41E0-8E9B-1D45FA012739}" type="pres">
      <dgm:prSet presAssocID="{137F4DB7-C19F-442F-9FCF-BA710817D2CF}" presName="sibTrans" presStyleCnt="0"/>
      <dgm:spPr/>
    </dgm:pt>
    <dgm:pt modelId="{E06C1617-6FD0-49AB-B8CC-636923000E67}" type="pres">
      <dgm:prSet presAssocID="{F1840CBE-15EA-4744-8D6C-D827DA0BD54F}" presName="node" presStyleLbl="node1" presStyleIdx="2" presStyleCnt="4">
        <dgm:presLayoutVars>
          <dgm:bulletEnabled val="1"/>
        </dgm:presLayoutVars>
      </dgm:prSet>
      <dgm:spPr/>
    </dgm:pt>
    <dgm:pt modelId="{3BAE77AE-1563-470A-8D18-700CEE0A033F}" type="pres">
      <dgm:prSet presAssocID="{1D9D64FF-EDF7-472C-A5E5-980650CCE6D8}" presName="sibTrans" presStyleCnt="0"/>
      <dgm:spPr/>
    </dgm:pt>
    <dgm:pt modelId="{FE569846-8CD5-4BEC-8C21-E919F10178A6}" type="pres">
      <dgm:prSet presAssocID="{A056A221-DBC7-4796-8204-5A7D28B01009}" presName="node" presStyleLbl="node1" presStyleIdx="3" presStyleCnt="4">
        <dgm:presLayoutVars>
          <dgm:bulletEnabled val="1"/>
        </dgm:presLayoutVars>
      </dgm:prSet>
      <dgm:spPr/>
    </dgm:pt>
  </dgm:ptLst>
  <dgm:cxnLst>
    <dgm:cxn modelId="{00C08E00-9170-4901-B2B8-0957BEE527F6}" type="presOf" srcId="{E0787EF1-F3E6-4017-8066-6081B9771004}" destId="{758975B9-666E-4C63-9FC2-BDAD3334BBBD}" srcOrd="0" destOrd="0" presId="urn:microsoft.com/office/officeart/2005/8/layout/default"/>
    <dgm:cxn modelId="{A73D7205-0D35-4AE7-8774-FDA0D4961E3D}" type="presOf" srcId="{DBCEE466-E2BF-4E8E-8AF7-8CE2C2E9A9C3}" destId="{9ABC6002-E7D3-4E87-BFB3-0551FEEC4A10}" srcOrd="0" destOrd="0" presId="urn:microsoft.com/office/officeart/2005/8/layout/default"/>
    <dgm:cxn modelId="{E3A7401B-326D-4CC9-BDE6-B84911AFBD29}" type="presOf" srcId="{F1840CBE-15EA-4744-8D6C-D827DA0BD54F}" destId="{E06C1617-6FD0-49AB-B8CC-636923000E67}" srcOrd="0" destOrd="0" presId="urn:microsoft.com/office/officeart/2005/8/layout/default"/>
    <dgm:cxn modelId="{12D6BB39-44EF-458F-9686-35E0D5FDEA62}" srcId="{4285ADD2-70FC-4243-AD9A-B1C51F0A5770}" destId="{A056A221-DBC7-4796-8204-5A7D28B01009}" srcOrd="3" destOrd="0" parTransId="{60928319-F76A-4F0E-9A20-CB08BDD067E9}" sibTransId="{BA8FEDF5-7933-4999-8877-5D80596189A5}"/>
    <dgm:cxn modelId="{3C708D6B-C89A-4C77-8A07-1A74C5670C57}" type="presOf" srcId="{A056A221-DBC7-4796-8204-5A7D28B01009}" destId="{FE569846-8CD5-4BEC-8C21-E919F10178A6}" srcOrd="0" destOrd="0" presId="urn:microsoft.com/office/officeart/2005/8/layout/default"/>
    <dgm:cxn modelId="{E4BFBD4E-9E94-49C6-9333-CB23F6A9213E}" type="presOf" srcId="{4285ADD2-70FC-4243-AD9A-B1C51F0A5770}" destId="{BCC3E58F-04D5-4D81-B293-68A814F7B1B7}" srcOrd="0" destOrd="0" presId="urn:microsoft.com/office/officeart/2005/8/layout/default"/>
    <dgm:cxn modelId="{69D12CB2-59D5-4449-A2B0-5D4C89BFE8ED}" srcId="{4285ADD2-70FC-4243-AD9A-B1C51F0A5770}" destId="{F1840CBE-15EA-4744-8D6C-D827DA0BD54F}" srcOrd="2" destOrd="0" parTransId="{AF3B817E-0535-4695-8C99-F0C75D6F423C}" sibTransId="{1D9D64FF-EDF7-472C-A5E5-980650CCE6D8}"/>
    <dgm:cxn modelId="{638845CD-85EE-4803-AE44-3172CC455D53}" srcId="{4285ADD2-70FC-4243-AD9A-B1C51F0A5770}" destId="{E0787EF1-F3E6-4017-8066-6081B9771004}" srcOrd="1" destOrd="0" parTransId="{D2A7D9DF-F6AF-483B-9761-D4D8F2B7743D}" sibTransId="{137F4DB7-C19F-442F-9FCF-BA710817D2CF}"/>
    <dgm:cxn modelId="{C5956BDE-D894-4DDE-9181-60F7624B2C9C}" srcId="{4285ADD2-70FC-4243-AD9A-B1C51F0A5770}" destId="{DBCEE466-E2BF-4E8E-8AF7-8CE2C2E9A9C3}" srcOrd="0" destOrd="0" parTransId="{04D73378-4D45-4FEB-A90F-FB2E98D9296E}" sibTransId="{10EE863A-06C8-4A5F-B315-25C922CB1114}"/>
    <dgm:cxn modelId="{B185085D-8013-44B7-983D-11AC5DDE2A52}" type="presParOf" srcId="{BCC3E58F-04D5-4D81-B293-68A814F7B1B7}" destId="{9ABC6002-E7D3-4E87-BFB3-0551FEEC4A10}" srcOrd="0" destOrd="0" presId="urn:microsoft.com/office/officeart/2005/8/layout/default"/>
    <dgm:cxn modelId="{8FBF1EEC-E019-49AD-9595-659A79867E63}" type="presParOf" srcId="{BCC3E58F-04D5-4D81-B293-68A814F7B1B7}" destId="{2CF66491-574F-4E6E-B2ED-358866E35582}" srcOrd="1" destOrd="0" presId="urn:microsoft.com/office/officeart/2005/8/layout/default"/>
    <dgm:cxn modelId="{7CD283F8-6470-40F9-B461-0F1AC3E7B853}" type="presParOf" srcId="{BCC3E58F-04D5-4D81-B293-68A814F7B1B7}" destId="{758975B9-666E-4C63-9FC2-BDAD3334BBBD}" srcOrd="2" destOrd="0" presId="urn:microsoft.com/office/officeart/2005/8/layout/default"/>
    <dgm:cxn modelId="{C8C72D9E-DE28-4A37-88DA-1CE712A8D309}" type="presParOf" srcId="{BCC3E58F-04D5-4D81-B293-68A814F7B1B7}" destId="{259A6968-443E-41E0-8E9B-1D45FA012739}" srcOrd="3" destOrd="0" presId="urn:microsoft.com/office/officeart/2005/8/layout/default"/>
    <dgm:cxn modelId="{AAE23B6E-646B-438A-8AE6-1087599D3E26}" type="presParOf" srcId="{BCC3E58F-04D5-4D81-B293-68A814F7B1B7}" destId="{E06C1617-6FD0-49AB-B8CC-636923000E67}" srcOrd="4" destOrd="0" presId="urn:microsoft.com/office/officeart/2005/8/layout/default"/>
    <dgm:cxn modelId="{754C29AA-FA8A-4486-9DEB-C6D4B864AE41}" type="presParOf" srcId="{BCC3E58F-04D5-4D81-B293-68A814F7B1B7}" destId="{3BAE77AE-1563-470A-8D18-700CEE0A033F}" srcOrd="5" destOrd="0" presId="urn:microsoft.com/office/officeart/2005/8/layout/default"/>
    <dgm:cxn modelId="{06AFE11B-8680-4829-A5EB-3046CE26450D}" type="presParOf" srcId="{BCC3E58F-04D5-4D81-B293-68A814F7B1B7}" destId="{FE569846-8CD5-4BEC-8C21-E919F10178A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500D97-12C3-4E0C-8DB4-8BC7D05DDC2D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62E47FA-5E12-4895-9C9C-E44250948F1A}">
      <dgm:prSet/>
      <dgm:spPr/>
      <dgm:t>
        <a:bodyPr/>
        <a:lstStyle/>
        <a:p>
          <a:r>
            <a:rPr lang="en-GB" dirty="0"/>
            <a:t>Autoencoder learns normal supplier </a:t>
          </a:r>
          <a:r>
            <a:rPr lang="en-GB" dirty="0" err="1"/>
            <a:t>behavior</a:t>
          </a:r>
          <a:r>
            <a:rPr lang="en-GB" dirty="0"/>
            <a:t>.</a:t>
          </a:r>
          <a:endParaRPr lang="en-US" dirty="0"/>
        </a:p>
      </dgm:t>
    </dgm:pt>
    <dgm:pt modelId="{4670FD35-7486-4D30-8CF0-B91D8C5D63E0}" type="parTrans" cxnId="{E6B44C75-BD37-4D30-9620-A5B1BE2052AB}">
      <dgm:prSet/>
      <dgm:spPr/>
      <dgm:t>
        <a:bodyPr/>
        <a:lstStyle/>
        <a:p>
          <a:endParaRPr lang="en-US"/>
        </a:p>
      </dgm:t>
    </dgm:pt>
    <dgm:pt modelId="{2A1A5039-727B-4017-BA70-D5F7F0AFC26D}" type="sibTrans" cxnId="{E6B44C75-BD37-4D30-9620-A5B1BE2052AB}">
      <dgm:prSet/>
      <dgm:spPr/>
      <dgm:t>
        <a:bodyPr/>
        <a:lstStyle/>
        <a:p>
          <a:endParaRPr lang="en-US"/>
        </a:p>
      </dgm:t>
    </dgm:pt>
    <dgm:pt modelId="{F4F5032E-2748-4A45-B32A-28BB3CAEED6A}">
      <dgm:prSet/>
      <dgm:spPr/>
      <dgm:t>
        <a:bodyPr/>
        <a:lstStyle/>
        <a:p>
          <a:r>
            <a:rPr lang="en-GB" dirty="0"/>
            <a:t>High reconstruction error = abnormal delay.</a:t>
          </a:r>
          <a:endParaRPr lang="en-US" dirty="0"/>
        </a:p>
      </dgm:t>
    </dgm:pt>
    <dgm:pt modelId="{ACA96C5E-27A1-42AB-A355-E8D95E245ED8}" type="parTrans" cxnId="{FCF0C0F0-3AB0-4104-A001-97FA105B397E}">
      <dgm:prSet/>
      <dgm:spPr/>
      <dgm:t>
        <a:bodyPr/>
        <a:lstStyle/>
        <a:p>
          <a:endParaRPr lang="en-US"/>
        </a:p>
      </dgm:t>
    </dgm:pt>
    <dgm:pt modelId="{66EE2EE3-DD89-49F7-BABF-DB35323DB60B}" type="sibTrans" cxnId="{FCF0C0F0-3AB0-4104-A001-97FA105B397E}">
      <dgm:prSet/>
      <dgm:spPr/>
      <dgm:t>
        <a:bodyPr/>
        <a:lstStyle/>
        <a:p>
          <a:endParaRPr lang="en-US"/>
        </a:p>
      </dgm:t>
    </dgm:pt>
    <dgm:pt modelId="{521FA438-A3BE-4650-A300-2A6D5486CCDB}">
      <dgm:prSet/>
      <dgm:spPr/>
      <dgm:t>
        <a:bodyPr/>
        <a:lstStyle/>
        <a:p>
          <a:r>
            <a:rPr lang="en-GB" dirty="0"/>
            <a:t>OCSVM classifies windows as normal or anomalous.</a:t>
          </a:r>
          <a:endParaRPr lang="en-US" dirty="0"/>
        </a:p>
      </dgm:t>
    </dgm:pt>
    <dgm:pt modelId="{CCFEA14F-8E8B-4B73-93C0-134032EA2B08}" type="parTrans" cxnId="{DFCA9ACA-0D87-4896-8B6C-7CF68D675EAB}">
      <dgm:prSet/>
      <dgm:spPr/>
      <dgm:t>
        <a:bodyPr/>
        <a:lstStyle/>
        <a:p>
          <a:endParaRPr lang="en-US"/>
        </a:p>
      </dgm:t>
    </dgm:pt>
    <dgm:pt modelId="{4E3E5752-E7D9-4060-B769-38A82BF7EB3B}" type="sibTrans" cxnId="{DFCA9ACA-0D87-4896-8B6C-7CF68D675EAB}">
      <dgm:prSet/>
      <dgm:spPr/>
      <dgm:t>
        <a:bodyPr/>
        <a:lstStyle/>
        <a:p>
          <a:endParaRPr lang="en-US"/>
        </a:p>
      </dgm:t>
    </dgm:pt>
    <dgm:pt modelId="{3C6FC915-DF54-46A0-88E0-A0575627EB52}" type="pres">
      <dgm:prSet presAssocID="{DF500D97-12C3-4E0C-8DB4-8BC7D05DDC2D}" presName="diagram" presStyleCnt="0">
        <dgm:presLayoutVars>
          <dgm:dir/>
          <dgm:resizeHandles val="exact"/>
        </dgm:presLayoutVars>
      </dgm:prSet>
      <dgm:spPr/>
    </dgm:pt>
    <dgm:pt modelId="{394E0F20-A5B0-47B8-BE3D-7ED37E480E2A}" type="pres">
      <dgm:prSet presAssocID="{262E47FA-5E12-4895-9C9C-E44250948F1A}" presName="node" presStyleLbl="node1" presStyleIdx="0" presStyleCnt="3">
        <dgm:presLayoutVars>
          <dgm:bulletEnabled val="1"/>
        </dgm:presLayoutVars>
      </dgm:prSet>
      <dgm:spPr/>
    </dgm:pt>
    <dgm:pt modelId="{025DD3D6-C91C-43C9-B522-EA307E29F2C6}" type="pres">
      <dgm:prSet presAssocID="{2A1A5039-727B-4017-BA70-D5F7F0AFC26D}" presName="sibTrans" presStyleCnt="0"/>
      <dgm:spPr/>
    </dgm:pt>
    <dgm:pt modelId="{950B4A16-9E54-4C40-BAB0-50B55589D302}" type="pres">
      <dgm:prSet presAssocID="{F4F5032E-2748-4A45-B32A-28BB3CAEED6A}" presName="node" presStyleLbl="node1" presStyleIdx="1" presStyleCnt="3">
        <dgm:presLayoutVars>
          <dgm:bulletEnabled val="1"/>
        </dgm:presLayoutVars>
      </dgm:prSet>
      <dgm:spPr/>
    </dgm:pt>
    <dgm:pt modelId="{C64167F6-AD67-44ED-A1D5-EA7EF66ABD80}" type="pres">
      <dgm:prSet presAssocID="{66EE2EE3-DD89-49F7-BABF-DB35323DB60B}" presName="sibTrans" presStyleCnt="0"/>
      <dgm:spPr/>
    </dgm:pt>
    <dgm:pt modelId="{991E8CEB-DEA5-458E-8713-CC8B2D0E4592}" type="pres">
      <dgm:prSet presAssocID="{521FA438-A3BE-4650-A300-2A6D5486CCDB}" presName="node" presStyleLbl="node1" presStyleIdx="2" presStyleCnt="3">
        <dgm:presLayoutVars>
          <dgm:bulletEnabled val="1"/>
        </dgm:presLayoutVars>
      </dgm:prSet>
      <dgm:spPr/>
    </dgm:pt>
  </dgm:ptLst>
  <dgm:cxnLst>
    <dgm:cxn modelId="{02921A10-43FD-442B-908C-3B6BA7C5D2CD}" type="presOf" srcId="{262E47FA-5E12-4895-9C9C-E44250948F1A}" destId="{394E0F20-A5B0-47B8-BE3D-7ED37E480E2A}" srcOrd="0" destOrd="0" presId="urn:microsoft.com/office/officeart/2005/8/layout/default"/>
    <dgm:cxn modelId="{69807E41-173F-4850-A87A-46AB4A17493F}" type="presOf" srcId="{DF500D97-12C3-4E0C-8DB4-8BC7D05DDC2D}" destId="{3C6FC915-DF54-46A0-88E0-A0575627EB52}" srcOrd="0" destOrd="0" presId="urn:microsoft.com/office/officeart/2005/8/layout/default"/>
    <dgm:cxn modelId="{84F1C54E-D151-44EB-AB88-DE0B0D7A501B}" type="presOf" srcId="{F4F5032E-2748-4A45-B32A-28BB3CAEED6A}" destId="{950B4A16-9E54-4C40-BAB0-50B55589D302}" srcOrd="0" destOrd="0" presId="urn:microsoft.com/office/officeart/2005/8/layout/default"/>
    <dgm:cxn modelId="{E6B44C75-BD37-4D30-9620-A5B1BE2052AB}" srcId="{DF500D97-12C3-4E0C-8DB4-8BC7D05DDC2D}" destId="{262E47FA-5E12-4895-9C9C-E44250948F1A}" srcOrd="0" destOrd="0" parTransId="{4670FD35-7486-4D30-8CF0-B91D8C5D63E0}" sibTransId="{2A1A5039-727B-4017-BA70-D5F7F0AFC26D}"/>
    <dgm:cxn modelId="{DFCA9ACA-0D87-4896-8B6C-7CF68D675EAB}" srcId="{DF500D97-12C3-4E0C-8DB4-8BC7D05DDC2D}" destId="{521FA438-A3BE-4650-A300-2A6D5486CCDB}" srcOrd="2" destOrd="0" parTransId="{CCFEA14F-8E8B-4B73-93C0-134032EA2B08}" sibTransId="{4E3E5752-E7D9-4060-B769-38A82BF7EB3B}"/>
    <dgm:cxn modelId="{01E5CDCE-218F-42B5-8536-8216D9DFDA30}" type="presOf" srcId="{521FA438-A3BE-4650-A300-2A6D5486CCDB}" destId="{991E8CEB-DEA5-458E-8713-CC8B2D0E4592}" srcOrd="0" destOrd="0" presId="urn:microsoft.com/office/officeart/2005/8/layout/default"/>
    <dgm:cxn modelId="{FCF0C0F0-3AB0-4104-A001-97FA105B397E}" srcId="{DF500D97-12C3-4E0C-8DB4-8BC7D05DDC2D}" destId="{F4F5032E-2748-4A45-B32A-28BB3CAEED6A}" srcOrd="1" destOrd="0" parTransId="{ACA96C5E-27A1-42AB-A355-E8D95E245ED8}" sibTransId="{66EE2EE3-DD89-49F7-BABF-DB35323DB60B}"/>
    <dgm:cxn modelId="{CBC4DD93-7898-4FDC-9CB4-4F0C452F6F75}" type="presParOf" srcId="{3C6FC915-DF54-46A0-88E0-A0575627EB52}" destId="{394E0F20-A5B0-47B8-BE3D-7ED37E480E2A}" srcOrd="0" destOrd="0" presId="urn:microsoft.com/office/officeart/2005/8/layout/default"/>
    <dgm:cxn modelId="{5B557E18-6B52-4D50-A48A-B186A7BF8FC0}" type="presParOf" srcId="{3C6FC915-DF54-46A0-88E0-A0575627EB52}" destId="{025DD3D6-C91C-43C9-B522-EA307E29F2C6}" srcOrd="1" destOrd="0" presId="urn:microsoft.com/office/officeart/2005/8/layout/default"/>
    <dgm:cxn modelId="{CAC18FB2-7964-41F5-AFC2-D4C5E366B1DA}" type="presParOf" srcId="{3C6FC915-DF54-46A0-88E0-A0575627EB52}" destId="{950B4A16-9E54-4C40-BAB0-50B55589D302}" srcOrd="2" destOrd="0" presId="urn:microsoft.com/office/officeart/2005/8/layout/default"/>
    <dgm:cxn modelId="{6F5D10BC-B449-4DB9-BDEA-B0C36FE88808}" type="presParOf" srcId="{3C6FC915-DF54-46A0-88E0-A0575627EB52}" destId="{C64167F6-AD67-44ED-A1D5-EA7EF66ABD80}" srcOrd="3" destOrd="0" presId="urn:microsoft.com/office/officeart/2005/8/layout/default"/>
    <dgm:cxn modelId="{87AEF372-ECCD-4068-AEE5-B3DA072A637B}" type="presParOf" srcId="{3C6FC915-DF54-46A0-88E0-A0575627EB52}" destId="{991E8CEB-DEA5-458E-8713-CC8B2D0E459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0CC46A-0D3D-4B89-BD45-6C0188EF2E54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58EF3B7-6FFA-4129-992F-D39B898CAB3C}">
      <dgm:prSet/>
      <dgm:spPr/>
      <dgm:t>
        <a:bodyPr/>
        <a:lstStyle/>
        <a:p>
          <a:r>
            <a:rPr lang="en-GB" b="1" dirty="0"/>
            <a:t>Step 1:</a:t>
          </a:r>
          <a:r>
            <a:rPr lang="en-GB" dirty="0"/>
            <a:t> </a:t>
          </a:r>
          <a:r>
            <a:rPr lang="en-GB" b="1" dirty="0"/>
            <a:t>Data Collection</a:t>
          </a:r>
          <a:br>
            <a:rPr lang="en-GB" b="1" dirty="0"/>
          </a:br>
          <a:r>
            <a:rPr lang="en-GB" b="1" dirty="0"/>
            <a:t> → Gather ERP / supplier data (Supplier, SKU, Route, Order &amp; Receipt Dates).</a:t>
          </a:r>
          <a:endParaRPr lang="en-US" dirty="0"/>
        </a:p>
      </dgm:t>
    </dgm:pt>
    <dgm:pt modelId="{29E07B39-C565-4AD9-B447-EAAF1A6D39CC}" type="parTrans" cxnId="{90C6BFB8-C811-4930-8D31-DAC9CB80EC9E}">
      <dgm:prSet/>
      <dgm:spPr/>
      <dgm:t>
        <a:bodyPr/>
        <a:lstStyle/>
        <a:p>
          <a:endParaRPr lang="en-US"/>
        </a:p>
      </dgm:t>
    </dgm:pt>
    <dgm:pt modelId="{69B19F1F-9FDE-40CD-BD7D-09BDB47AFC34}" type="sibTrans" cxnId="{90C6BFB8-C811-4930-8D31-DAC9CB80EC9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25728E3-7F8E-42A1-AE8E-6E32F6680991}">
      <dgm:prSet/>
      <dgm:spPr/>
      <dgm:t>
        <a:bodyPr/>
        <a:lstStyle/>
        <a:p>
          <a:r>
            <a:rPr lang="en-GB" b="1" dirty="0"/>
            <a:t>Step 2:</a:t>
          </a:r>
          <a:r>
            <a:rPr lang="en-GB" dirty="0"/>
            <a:t> </a:t>
          </a:r>
          <a:r>
            <a:rPr lang="en-GB" b="1" dirty="0"/>
            <a:t>Data Preprocessing</a:t>
          </a:r>
          <a:br>
            <a:rPr lang="en-GB" b="1" dirty="0"/>
          </a:br>
          <a:r>
            <a:rPr lang="en-GB" b="1" dirty="0"/>
            <a:t> → Clean data, engineer features , encode categorical and scale numeric values.</a:t>
          </a:r>
          <a:endParaRPr lang="en-US" dirty="0"/>
        </a:p>
      </dgm:t>
    </dgm:pt>
    <dgm:pt modelId="{1C6FFE9D-5D15-4BA0-8184-C62EE3AD2F74}" type="parTrans" cxnId="{97667E29-6806-4905-ACBA-C7E93E84AD65}">
      <dgm:prSet/>
      <dgm:spPr/>
      <dgm:t>
        <a:bodyPr/>
        <a:lstStyle/>
        <a:p>
          <a:endParaRPr lang="en-US"/>
        </a:p>
      </dgm:t>
    </dgm:pt>
    <dgm:pt modelId="{741B5CDD-8B1C-41D6-A1BE-CCF2E65A897D}" type="sibTrans" cxnId="{97667E29-6806-4905-ACBA-C7E93E84AD6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E89AF27-1BD3-44AE-843B-F93816C9AE29}">
      <dgm:prSet/>
      <dgm:spPr/>
      <dgm:t>
        <a:bodyPr/>
        <a:lstStyle/>
        <a:p>
          <a:r>
            <a:rPr lang="en-GB" b="1" dirty="0"/>
            <a:t>Step 3:</a:t>
          </a:r>
          <a:r>
            <a:rPr lang="en-GB" dirty="0"/>
            <a:t> </a:t>
          </a:r>
          <a:r>
            <a:rPr lang="en-GB" b="1" dirty="0"/>
            <a:t>Lead-Time Forecasting (CNN–</a:t>
          </a:r>
          <a:r>
            <a:rPr lang="en-GB" b="1" dirty="0" err="1"/>
            <a:t>BiLSTM</a:t>
          </a:r>
          <a:r>
            <a:rPr lang="en-GB" b="1" dirty="0"/>
            <a:t>)</a:t>
          </a:r>
          <a:br>
            <a:rPr lang="en-GB" b="1" dirty="0"/>
          </a:br>
          <a:r>
            <a:rPr lang="en-GB" b="1" dirty="0"/>
            <a:t> → Predict upcoming delivery lead time from historical supplier patterns.</a:t>
          </a:r>
          <a:endParaRPr lang="en-US" dirty="0"/>
        </a:p>
      </dgm:t>
    </dgm:pt>
    <dgm:pt modelId="{6BDB58BF-7FCB-4E37-B3B4-9586A67383C0}" type="parTrans" cxnId="{9AC6F899-6D9E-473B-B260-2930F5896B6B}">
      <dgm:prSet/>
      <dgm:spPr/>
      <dgm:t>
        <a:bodyPr/>
        <a:lstStyle/>
        <a:p>
          <a:endParaRPr lang="en-US"/>
        </a:p>
      </dgm:t>
    </dgm:pt>
    <dgm:pt modelId="{4EFFADC7-5F2A-40AE-8F45-0EAB429FE6D1}" type="sibTrans" cxnId="{9AC6F899-6D9E-473B-B260-2930F5896B6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A215093-19A1-47D9-A770-6435D5A4E17F}">
      <dgm:prSet/>
      <dgm:spPr/>
      <dgm:t>
        <a:bodyPr/>
        <a:lstStyle/>
        <a:p>
          <a:r>
            <a:rPr lang="en-GB" b="1" dirty="0"/>
            <a:t>Step 4:</a:t>
          </a:r>
          <a:r>
            <a:rPr lang="en-GB" dirty="0"/>
            <a:t> </a:t>
          </a:r>
          <a:r>
            <a:rPr lang="en-GB" b="1" dirty="0"/>
            <a:t>Anomaly Detection (LSTM-AE + OCSVM)</a:t>
          </a:r>
          <a:br>
            <a:rPr lang="en-GB" b="1" dirty="0"/>
          </a:br>
          <a:r>
            <a:rPr lang="en-GB" b="1" dirty="0"/>
            <a:t> → Identify abnormal supplier behaviour or unexpected delay spikes.</a:t>
          </a:r>
          <a:endParaRPr lang="en-US" dirty="0"/>
        </a:p>
      </dgm:t>
    </dgm:pt>
    <dgm:pt modelId="{884F56D7-2670-412F-8D2D-8D2680027E67}" type="parTrans" cxnId="{3D4B2875-1890-4CE8-B0BB-6AB87D333B10}">
      <dgm:prSet/>
      <dgm:spPr/>
      <dgm:t>
        <a:bodyPr/>
        <a:lstStyle/>
        <a:p>
          <a:endParaRPr lang="en-US"/>
        </a:p>
      </dgm:t>
    </dgm:pt>
    <dgm:pt modelId="{3AE8B3EB-0798-4680-9CA2-A27815B67BFA}" type="sibTrans" cxnId="{3D4B2875-1890-4CE8-B0BB-6AB87D333B10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506E29EE-7737-4B2E-9C05-E69CACE14D38}">
      <dgm:prSet/>
      <dgm:spPr/>
      <dgm:t>
        <a:bodyPr/>
        <a:lstStyle/>
        <a:p>
          <a:r>
            <a:rPr lang="en-GB" b="1" dirty="0"/>
            <a:t>Step 5:</a:t>
          </a:r>
          <a:r>
            <a:rPr lang="en-GB" dirty="0"/>
            <a:t> </a:t>
          </a:r>
          <a:r>
            <a:rPr lang="en-GB" b="1" dirty="0"/>
            <a:t>Model Integration (Fast API)</a:t>
          </a:r>
          <a:br>
            <a:rPr lang="en-GB" b="1" dirty="0"/>
          </a:br>
          <a:r>
            <a:rPr lang="en-GB" b="1" dirty="0"/>
            <a:t> → Host models as REST APIs -</a:t>
          </a:r>
          <a:r>
            <a:rPr lang="en-GB" dirty="0"/>
            <a:t> </a:t>
          </a:r>
          <a:r>
            <a:rPr lang="en-GB" b="1" dirty="0"/>
            <a:t>Visualization </a:t>
          </a:r>
          <a:br>
            <a:rPr lang="en-GB" b="1" dirty="0"/>
          </a:br>
          <a:r>
            <a:rPr lang="en-GB" b="1" dirty="0"/>
            <a:t> → Display predicted lead times, anomaly alerts, and performance metrics in real time.</a:t>
          </a:r>
          <a:endParaRPr lang="en-US" dirty="0"/>
        </a:p>
      </dgm:t>
    </dgm:pt>
    <dgm:pt modelId="{70FEE663-6078-4EB4-AE25-34F9ADE87656}" type="parTrans" cxnId="{949D841A-A6A7-4BDC-B58A-8B7446B0B224}">
      <dgm:prSet/>
      <dgm:spPr/>
      <dgm:t>
        <a:bodyPr/>
        <a:lstStyle/>
        <a:p>
          <a:endParaRPr lang="en-US"/>
        </a:p>
      </dgm:t>
    </dgm:pt>
    <dgm:pt modelId="{5D9754C5-C978-4A56-9918-FBBB31C9CE75}" type="sibTrans" cxnId="{949D841A-A6A7-4BDC-B58A-8B7446B0B224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542F859D-7748-4FCF-B5DD-1518C1E1CF45}" type="pres">
      <dgm:prSet presAssocID="{E20CC46A-0D3D-4B89-BD45-6C0188EF2E54}" presName="Name0" presStyleCnt="0">
        <dgm:presLayoutVars>
          <dgm:animLvl val="lvl"/>
          <dgm:resizeHandles val="exact"/>
        </dgm:presLayoutVars>
      </dgm:prSet>
      <dgm:spPr/>
    </dgm:pt>
    <dgm:pt modelId="{9B982B98-BEAD-4B7E-A0B4-41FB1961D54E}" type="pres">
      <dgm:prSet presAssocID="{458EF3B7-6FFA-4129-992F-D39B898CAB3C}" presName="compositeNode" presStyleCnt="0">
        <dgm:presLayoutVars>
          <dgm:bulletEnabled val="1"/>
        </dgm:presLayoutVars>
      </dgm:prSet>
      <dgm:spPr/>
    </dgm:pt>
    <dgm:pt modelId="{CC209B3F-2E1B-4E06-89A2-EBA55BF7ADA9}" type="pres">
      <dgm:prSet presAssocID="{458EF3B7-6FFA-4129-992F-D39B898CAB3C}" presName="bgRect" presStyleLbl="bgAccFollowNode1" presStyleIdx="0" presStyleCnt="5"/>
      <dgm:spPr/>
    </dgm:pt>
    <dgm:pt modelId="{2344A854-83B0-4B37-A408-EB258E099066}" type="pres">
      <dgm:prSet presAssocID="{69B19F1F-9FDE-40CD-BD7D-09BDB47AFC34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94AB6F2A-590C-47B5-9777-3A1A1A578E07}" type="pres">
      <dgm:prSet presAssocID="{458EF3B7-6FFA-4129-992F-D39B898CAB3C}" presName="bottomLine" presStyleLbl="alignNode1" presStyleIdx="1" presStyleCnt="10">
        <dgm:presLayoutVars/>
      </dgm:prSet>
      <dgm:spPr/>
    </dgm:pt>
    <dgm:pt modelId="{D21A06C3-E2A5-4ED5-AC6E-830B8DC1638B}" type="pres">
      <dgm:prSet presAssocID="{458EF3B7-6FFA-4129-992F-D39B898CAB3C}" presName="nodeText" presStyleLbl="bgAccFollowNode1" presStyleIdx="0" presStyleCnt="5">
        <dgm:presLayoutVars>
          <dgm:bulletEnabled val="1"/>
        </dgm:presLayoutVars>
      </dgm:prSet>
      <dgm:spPr/>
    </dgm:pt>
    <dgm:pt modelId="{55EFC5AB-2BD1-49F7-B9BE-8FB9DBE7EABB}" type="pres">
      <dgm:prSet presAssocID="{69B19F1F-9FDE-40CD-BD7D-09BDB47AFC34}" presName="sibTrans" presStyleCnt="0"/>
      <dgm:spPr/>
    </dgm:pt>
    <dgm:pt modelId="{1A7D4DDC-71D2-4A40-AF8B-7E8AE2A582FF}" type="pres">
      <dgm:prSet presAssocID="{825728E3-7F8E-42A1-AE8E-6E32F6680991}" presName="compositeNode" presStyleCnt="0">
        <dgm:presLayoutVars>
          <dgm:bulletEnabled val="1"/>
        </dgm:presLayoutVars>
      </dgm:prSet>
      <dgm:spPr/>
    </dgm:pt>
    <dgm:pt modelId="{55F9C42B-BB1B-4701-8AF3-2A8106CF2207}" type="pres">
      <dgm:prSet presAssocID="{825728E3-7F8E-42A1-AE8E-6E32F6680991}" presName="bgRect" presStyleLbl="bgAccFollowNode1" presStyleIdx="1" presStyleCnt="5"/>
      <dgm:spPr/>
    </dgm:pt>
    <dgm:pt modelId="{58CDFCA2-A3DD-4A40-9EEA-9D6B30F311AB}" type="pres">
      <dgm:prSet presAssocID="{741B5CDD-8B1C-41D6-A1BE-CCF2E65A897D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F11BB6CE-EA2C-4D82-A311-DC9003FAE14A}" type="pres">
      <dgm:prSet presAssocID="{825728E3-7F8E-42A1-AE8E-6E32F6680991}" presName="bottomLine" presStyleLbl="alignNode1" presStyleIdx="3" presStyleCnt="10">
        <dgm:presLayoutVars/>
      </dgm:prSet>
      <dgm:spPr/>
    </dgm:pt>
    <dgm:pt modelId="{B7A8533B-1995-4755-9FF3-1C49DE3B3101}" type="pres">
      <dgm:prSet presAssocID="{825728E3-7F8E-42A1-AE8E-6E32F6680991}" presName="nodeText" presStyleLbl="bgAccFollowNode1" presStyleIdx="1" presStyleCnt="5">
        <dgm:presLayoutVars>
          <dgm:bulletEnabled val="1"/>
        </dgm:presLayoutVars>
      </dgm:prSet>
      <dgm:spPr/>
    </dgm:pt>
    <dgm:pt modelId="{12E7FFB2-72B4-4606-B6C9-5877A62F65F3}" type="pres">
      <dgm:prSet presAssocID="{741B5CDD-8B1C-41D6-A1BE-CCF2E65A897D}" presName="sibTrans" presStyleCnt="0"/>
      <dgm:spPr/>
    </dgm:pt>
    <dgm:pt modelId="{5B69623C-2958-4B66-995F-B04F3DDF52DA}" type="pres">
      <dgm:prSet presAssocID="{4E89AF27-1BD3-44AE-843B-F93816C9AE29}" presName="compositeNode" presStyleCnt="0">
        <dgm:presLayoutVars>
          <dgm:bulletEnabled val="1"/>
        </dgm:presLayoutVars>
      </dgm:prSet>
      <dgm:spPr/>
    </dgm:pt>
    <dgm:pt modelId="{4A29D0D1-2A68-4968-9BB2-67B93A7FAD4E}" type="pres">
      <dgm:prSet presAssocID="{4E89AF27-1BD3-44AE-843B-F93816C9AE29}" presName="bgRect" presStyleLbl="bgAccFollowNode1" presStyleIdx="2" presStyleCnt="5"/>
      <dgm:spPr/>
    </dgm:pt>
    <dgm:pt modelId="{50AF2559-B615-41ED-BA9E-F69C852D3A7E}" type="pres">
      <dgm:prSet presAssocID="{4EFFADC7-5F2A-40AE-8F45-0EAB429FE6D1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4F02B3E0-3564-49C9-B5C1-B0595C8D8A56}" type="pres">
      <dgm:prSet presAssocID="{4E89AF27-1BD3-44AE-843B-F93816C9AE29}" presName="bottomLine" presStyleLbl="alignNode1" presStyleIdx="5" presStyleCnt="10">
        <dgm:presLayoutVars/>
      </dgm:prSet>
      <dgm:spPr/>
    </dgm:pt>
    <dgm:pt modelId="{02564DC9-8E1B-4DBD-8B7A-631A97190C9B}" type="pres">
      <dgm:prSet presAssocID="{4E89AF27-1BD3-44AE-843B-F93816C9AE29}" presName="nodeText" presStyleLbl="bgAccFollowNode1" presStyleIdx="2" presStyleCnt="5">
        <dgm:presLayoutVars>
          <dgm:bulletEnabled val="1"/>
        </dgm:presLayoutVars>
      </dgm:prSet>
      <dgm:spPr/>
    </dgm:pt>
    <dgm:pt modelId="{A7C1CA79-E8C0-40B5-A641-610DCE5CDCE1}" type="pres">
      <dgm:prSet presAssocID="{4EFFADC7-5F2A-40AE-8F45-0EAB429FE6D1}" presName="sibTrans" presStyleCnt="0"/>
      <dgm:spPr/>
    </dgm:pt>
    <dgm:pt modelId="{2968F719-A47F-46ED-9431-7B20C5DF4FDA}" type="pres">
      <dgm:prSet presAssocID="{1A215093-19A1-47D9-A770-6435D5A4E17F}" presName="compositeNode" presStyleCnt="0">
        <dgm:presLayoutVars>
          <dgm:bulletEnabled val="1"/>
        </dgm:presLayoutVars>
      </dgm:prSet>
      <dgm:spPr/>
    </dgm:pt>
    <dgm:pt modelId="{3C249A69-3A65-438C-A566-E50AB48FD40E}" type="pres">
      <dgm:prSet presAssocID="{1A215093-19A1-47D9-A770-6435D5A4E17F}" presName="bgRect" presStyleLbl="bgAccFollowNode1" presStyleIdx="3" presStyleCnt="5"/>
      <dgm:spPr/>
    </dgm:pt>
    <dgm:pt modelId="{AB51614F-0D13-4C5A-815B-2EC554166A53}" type="pres">
      <dgm:prSet presAssocID="{3AE8B3EB-0798-4680-9CA2-A27815B67BFA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24BA2FBE-7720-45DB-8321-97E0507C1C37}" type="pres">
      <dgm:prSet presAssocID="{1A215093-19A1-47D9-A770-6435D5A4E17F}" presName="bottomLine" presStyleLbl="alignNode1" presStyleIdx="7" presStyleCnt="10">
        <dgm:presLayoutVars/>
      </dgm:prSet>
      <dgm:spPr/>
    </dgm:pt>
    <dgm:pt modelId="{7A69388A-19F0-4249-AF2C-C3E8CED88CF3}" type="pres">
      <dgm:prSet presAssocID="{1A215093-19A1-47D9-A770-6435D5A4E17F}" presName="nodeText" presStyleLbl="bgAccFollowNode1" presStyleIdx="3" presStyleCnt="5">
        <dgm:presLayoutVars>
          <dgm:bulletEnabled val="1"/>
        </dgm:presLayoutVars>
      </dgm:prSet>
      <dgm:spPr/>
    </dgm:pt>
    <dgm:pt modelId="{8BDDD427-8358-4C56-B190-E39B2FE8E3CD}" type="pres">
      <dgm:prSet presAssocID="{3AE8B3EB-0798-4680-9CA2-A27815B67BFA}" presName="sibTrans" presStyleCnt="0"/>
      <dgm:spPr/>
    </dgm:pt>
    <dgm:pt modelId="{F63D41B2-5E59-47DB-9364-CAF92E8413EC}" type="pres">
      <dgm:prSet presAssocID="{506E29EE-7737-4B2E-9C05-E69CACE14D38}" presName="compositeNode" presStyleCnt="0">
        <dgm:presLayoutVars>
          <dgm:bulletEnabled val="1"/>
        </dgm:presLayoutVars>
      </dgm:prSet>
      <dgm:spPr/>
    </dgm:pt>
    <dgm:pt modelId="{B3DF5764-1399-49DE-8DE2-42E8DA1F5DFF}" type="pres">
      <dgm:prSet presAssocID="{506E29EE-7737-4B2E-9C05-E69CACE14D38}" presName="bgRect" presStyleLbl="bgAccFollowNode1" presStyleIdx="4" presStyleCnt="5"/>
      <dgm:spPr/>
    </dgm:pt>
    <dgm:pt modelId="{8B00A949-471C-4A44-8762-19884EDF2489}" type="pres">
      <dgm:prSet presAssocID="{5D9754C5-C978-4A56-9918-FBBB31C9CE75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528704B4-29EA-434B-896A-D54DC873EE4E}" type="pres">
      <dgm:prSet presAssocID="{506E29EE-7737-4B2E-9C05-E69CACE14D38}" presName="bottomLine" presStyleLbl="alignNode1" presStyleIdx="9" presStyleCnt="10">
        <dgm:presLayoutVars/>
      </dgm:prSet>
      <dgm:spPr/>
    </dgm:pt>
    <dgm:pt modelId="{A6093343-18AF-480D-A433-43573F2BCD6D}" type="pres">
      <dgm:prSet presAssocID="{506E29EE-7737-4B2E-9C05-E69CACE14D38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17760119-CDA9-42E4-ADE8-5AA8050FE4AD}" type="presOf" srcId="{458EF3B7-6FFA-4129-992F-D39B898CAB3C}" destId="{CC209B3F-2E1B-4E06-89A2-EBA55BF7ADA9}" srcOrd="0" destOrd="0" presId="urn:microsoft.com/office/officeart/2016/7/layout/BasicLinearProcessNumbered"/>
    <dgm:cxn modelId="{949D841A-A6A7-4BDC-B58A-8B7446B0B224}" srcId="{E20CC46A-0D3D-4B89-BD45-6C0188EF2E54}" destId="{506E29EE-7737-4B2E-9C05-E69CACE14D38}" srcOrd="4" destOrd="0" parTransId="{70FEE663-6078-4EB4-AE25-34F9ADE87656}" sibTransId="{5D9754C5-C978-4A56-9918-FBBB31C9CE75}"/>
    <dgm:cxn modelId="{210D5424-414B-4C5A-9444-A7600DF9F504}" type="presOf" srcId="{1A215093-19A1-47D9-A770-6435D5A4E17F}" destId="{7A69388A-19F0-4249-AF2C-C3E8CED88CF3}" srcOrd="1" destOrd="0" presId="urn:microsoft.com/office/officeart/2016/7/layout/BasicLinearProcessNumbered"/>
    <dgm:cxn modelId="{97667E29-6806-4905-ACBA-C7E93E84AD65}" srcId="{E20CC46A-0D3D-4B89-BD45-6C0188EF2E54}" destId="{825728E3-7F8E-42A1-AE8E-6E32F6680991}" srcOrd="1" destOrd="0" parTransId="{1C6FFE9D-5D15-4BA0-8184-C62EE3AD2F74}" sibTransId="{741B5CDD-8B1C-41D6-A1BE-CCF2E65A897D}"/>
    <dgm:cxn modelId="{5370E637-B5B6-45E4-9E8D-5B0630BBE98A}" type="presOf" srcId="{458EF3B7-6FFA-4129-992F-D39B898CAB3C}" destId="{D21A06C3-E2A5-4ED5-AC6E-830B8DC1638B}" srcOrd="1" destOrd="0" presId="urn:microsoft.com/office/officeart/2016/7/layout/BasicLinearProcessNumbered"/>
    <dgm:cxn modelId="{F8262C4D-13CE-4E80-90A4-6AECAE302DEE}" type="presOf" srcId="{1A215093-19A1-47D9-A770-6435D5A4E17F}" destId="{3C249A69-3A65-438C-A566-E50AB48FD40E}" srcOrd="0" destOrd="0" presId="urn:microsoft.com/office/officeart/2016/7/layout/BasicLinearProcessNumbered"/>
    <dgm:cxn modelId="{25AA446E-9D26-406B-8EB7-051285B65845}" type="presOf" srcId="{825728E3-7F8E-42A1-AE8E-6E32F6680991}" destId="{55F9C42B-BB1B-4701-8AF3-2A8106CF2207}" srcOrd="0" destOrd="0" presId="urn:microsoft.com/office/officeart/2016/7/layout/BasicLinearProcessNumbered"/>
    <dgm:cxn modelId="{AAFFD74F-39E5-4E56-B4B9-D86C93EA196D}" type="presOf" srcId="{506E29EE-7737-4B2E-9C05-E69CACE14D38}" destId="{B3DF5764-1399-49DE-8DE2-42E8DA1F5DFF}" srcOrd="0" destOrd="0" presId="urn:microsoft.com/office/officeart/2016/7/layout/BasicLinearProcessNumbered"/>
    <dgm:cxn modelId="{3D4B2875-1890-4CE8-B0BB-6AB87D333B10}" srcId="{E20CC46A-0D3D-4B89-BD45-6C0188EF2E54}" destId="{1A215093-19A1-47D9-A770-6435D5A4E17F}" srcOrd="3" destOrd="0" parTransId="{884F56D7-2670-412F-8D2D-8D2680027E67}" sibTransId="{3AE8B3EB-0798-4680-9CA2-A27815B67BFA}"/>
    <dgm:cxn modelId="{A98CA889-204F-4792-AFBF-7A8F1042BBFD}" type="presOf" srcId="{825728E3-7F8E-42A1-AE8E-6E32F6680991}" destId="{B7A8533B-1995-4755-9FF3-1C49DE3B3101}" srcOrd="1" destOrd="0" presId="urn:microsoft.com/office/officeart/2016/7/layout/BasicLinearProcessNumbered"/>
    <dgm:cxn modelId="{BD504398-11C0-4052-ACDE-19B85D5885DD}" type="presOf" srcId="{4E89AF27-1BD3-44AE-843B-F93816C9AE29}" destId="{4A29D0D1-2A68-4968-9BB2-67B93A7FAD4E}" srcOrd="0" destOrd="0" presId="urn:microsoft.com/office/officeart/2016/7/layout/BasicLinearProcessNumbered"/>
    <dgm:cxn modelId="{9AC6F899-6D9E-473B-B260-2930F5896B6B}" srcId="{E20CC46A-0D3D-4B89-BD45-6C0188EF2E54}" destId="{4E89AF27-1BD3-44AE-843B-F93816C9AE29}" srcOrd="2" destOrd="0" parTransId="{6BDB58BF-7FCB-4E37-B3B4-9586A67383C0}" sibTransId="{4EFFADC7-5F2A-40AE-8F45-0EAB429FE6D1}"/>
    <dgm:cxn modelId="{00CFE9A3-DC33-4AF6-BFAB-1348EA8C900C}" type="presOf" srcId="{5D9754C5-C978-4A56-9918-FBBB31C9CE75}" destId="{8B00A949-471C-4A44-8762-19884EDF2489}" srcOrd="0" destOrd="0" presId="urn:microsoft.com/office/officeart/2016/7/layout/BasicLinearProcessNumbered"/>
    <dgm:cxn modelId="{6A04F7A4-D879-4EB9-91CB-C46653302C97}" type="presOf" srcId="{4EFFADC7-5F2A-40AE-8F45-0EAB429FE6D1}" destId="{50AF2559-B615-41ED-BA9E-F69C852D3A7E}" srcOrd="0" destOrd="0" presId="urn:microsoft.com/office/officeart/2016/7/layout/BasicLinearProcessNumbered"/>
    <dgm:cxn modelId="{23A2EBAB-305C-43A3-8C36-3FDB176233AF}" type="presOf" srcId="{506E29EE-7737-4B2E-9C05-E69CACE14D38}" destId="{A6093343-18AF-480D-A433-43573F2BCD6D}" srcOrd="1" destOrd="0" presId="urn:microsoft.com/office/officeart/2016/7/layout/BasicLinearProcessNumbered"/>
    <dgm:cxn modelId="{90C6BFB8-C811-4930-8D31-DAC9CB80EC9E}" srcId="{E20CC46A-0D3D-4B89-BD45-6C0188EF2E54}" destId="{458EF3B7-6FFA-4129-992F-D39B898CAB3C}" srcOrd="0" destOrd="0" parTransId="{29E07B39-C565-4AD9-B447-EAAF1A6D39CC}" sibTransId="{69B19F1F-9FDE-40CD-BD7D-09BDB47AFC34}"/>
    <dgm:cxn modelId="{F40E7EB9-50F3-44D3-AF08-DF5FFEE43B9F}" type="presOf" srcId="{3AE8B3EB-0798-4680-9CA2-A27815B67BFA}" destId="{AB51614F-0D13-4C5A-815B-2EC554166A53}" srcOrd="0" destOrd="0" presId="urn:microsoft.com/office/officeart/2016/7/layout/BasicLinearProcessNumbered"/>
    <dgm:cxn modelId="{355D02C6-1525-4ABB-ACEC-4F96E96184AB}" type="presOf" srcId="{69B19F1F-9FDE-40CD-BD7D-09BDB47AFC34}" destId="{2344A854-83B0-4B37-A408-EB258E099066}" srcOrd="0" destOrd="0" presId="urn:microsoft.com/office/officeart/2016/7/layout/BasicLinearProcessNumbered"/>
    <dgm:cxn modelId="{3EE264D3-B1D0-45D5-9372-3FF284F516EE}" type="presOf" srcId="{741B5CDD-8B1C-41D6-A1BE-CCF2E65A897D}" destId="{58CDFCA2-A3DD-4A40-9EEA-9D6B30F311AB}" srcOrd="0" destOrd="0" presId="urn:microsoft.com/office/officeart/2016/7/layout/BasicLinearProcessNumbered"/>
    <dgm:cxn modelId="{E4D0B5DD-60C1-4EC5-B37C-CA1C322E3E3B}" type="presOf" srcId="{E20CC46A-0D3D-4B89-BD45-6C0188EF2E54}" destId="{542F859D-7748-4FCF-B5DD-1518C1E1CF45}" srcOrd="0" destOrd="0" presId="urn:microsoft.com/office/officeart/2016/7/layout/BasicLinearProcessNumbered"/>
    <dgm:cxn modelId="{5A10EDF7-8FFF-4835-ADA8-3A7CC7B718A7}" type="presOf" srcId="{4E89AF27-1BD3-44AE-843B-F93816C9AE29}" destId="{02564DC9-8E1B-4DBD-8B7A-631A97190C9B}" srcOrd="1" destOrd="0" presId="urn:microsoft.com/office/officeart/2016/7/layout/BasicLinearProcessNumbered"/>
    <dgm:cxn modelId="{7E66C72A-57BA-4A65-9FCA-F21CB739391A}" type="presParOf" srcId="{542F859D-7748-4FCF-B5DD-1518C1E1CF45}" destId="{9B982B98-BEAD-4B7E-A0B4-41FB1961D54E}" srcOrd="0" destOrd="0" presId="urn:microsoft.com/office/officeart/2016/7/layout/BasicLinearProcessNumbered"/>
    <dgm:cxn modelId="{A12790F1-9E89-4571-A44B-76FCC6DC840A}" type="presParOf" srcId="{9B982B98-BEAD-4B7E-A0B4-41FB1961D54E}" destId="{CC209B3F-2E1B-4E06-89A2-EBA55BF7ADA9}" srcOrd="0" destOrd="0" presId="urn:microsoft.com/office/officeart/2016/7/layout/BasicLinearProcessNumbered"/>
    <dgm:cxn modelId="{84DA7FB3-A0FF-4625-849A-D53B1BD8F77A}" type="presParOf" srcId="{9B982B98-BEAD-4B7E-A0B4-41FB1961D54E}" destId="{2344A854-83B0-4B37-A408-EB258E099066}" srcOrd="1" destOrd="0" presId="urn:microsoft.com/office/officeart/2016/7/layout/BasicLinearProcessNumbered"/>
    <dgm:cxn modelId="{D1710160-C6EF-456C-B2E7-D31372C09988}" type="presParOf" srcId="{9B982B98-BEAD-4B7E-A0B4-41FB1961D54E}" destId="{94AB6F2A-590C-47B5-9777-3A1A1A578E07}" srcOrd="2" destOrd="0" presId="urn:microsoft.com/office/officeart/2016/7/layout/BasicLinearProcessNumbered"/>
    <dgm:cxn modelId="{DAF6548F-8658-4A11-BB5F-7EA265180765}" type="presParOf" srcId="{9B982B98-BEAD-4B7E-A0B4-41FB1961D54E}" destId="{D21A06C3-E2A5-4ED5-AC6E-830B8DC1638B}" srcOrd="3" destOrd="0" presId="urn:microsoft.com/office/officeart/2016/7/layout/BasicLinearProcessNumbered"/>
    <dgm:cxn modelId="{85412EFE-0A96-40F1-9619-6E6EB1AFB2B7}" type="presParOf" srcId="{542F859D-7748-4FCF-B5DD-1518C1E1CF45}" destId="{55EFC5AB-2BD1-49F7-B9BE-8FB9DBE7EABB}" srcOrd="1" destOrd="0" presId="urn:microsoft.com/office/officeart/2016/7/layout/BasicLinearProcessNumbered"/>
    <dgm:cxn modelId="{1B27F0A4-098C-4753-A137-38BE4469F3CF}" type="presParOf" srcId="{542F859D-7748-4FCF-B5DD-1518C1E1CF45}" destId="{1A7D4DDC-71D2-4A40-AF8B-7E8AE2A582FF}" srcOrd="2" destOrd="0" presId="urn:microsoft.com/office/officeart/2016/7/layout/BasicLinearProcessNumbered"/>
    <dgm:cxn modelId="{B88414D2-E669-4B5F-9442-C5B54ABF1BD0}" type="presParOf" srcId="{1A7D4DDC-71D2-4A40-AF8B-7E8AE2A582FF}" destId="{55F9C42B-BB1B-4701-8AF3-2A8106CF2207}" srcOrd="0" destOrd="0" presId="urn:microsoft.com/office/officeart/2016/7/layout/BasicLinearProcessNumbered"/>
    <dgm:cxn modelId="{156E01DC-AFFD-4FD8-8188-28AB055DE0DD}" type="presParOf" srcId="{1A7D4DDC-71D2-4A40-AF8B-7E8AE2A582FF}" destId="{58CDFCA2-A3DD-4A40-9EEA-9D6B30F311AB}" srcOrd="1" destOrd="0" presId="urn:microsoft.com/office/officeart/2016/7/layout/BasicLinearProcessNumbered"/>
    <dgm:cxn modelId="{BE58D485-880E-493E-A0D0-3FF141420852}" type="presParOf" srcId="{1A7D4DDC-71D2-4A40-AF8B-7E8AE2A582FF}" destId="{F11BB6CE-EA2C-4D82-A311-DC9003FAE14A}" srcOrd="2" destOrd="0" presId="urn:microsoft.com/office/officeart/2016/7/layout/BasicLinearProcessNumbered"/>
    <dgm:cxn modelId="{247E24B7-DC4C-4905-B06F-D7904E08D95F}" type="presParOf" srcId="{1A7D4DDC-71D2-4A40-AF8B-7E8AE2A582FF}" destId="{B7A8533B-1995-4755-9FF3-1C49DE3B3101}" srcOrd="3" destOrd="0" presId="urn:microsoft.com/office/officeart/2016/7/layout/BasicLinearProcessNumbered"/>
    <dgm:cxn modelId="{6DB47CD8-3850-475F-8858-DCDCDA00F420}" type="presParOf" srcId="{542F859D-7748-4FCF-B5DD-1518C1E1CF45}" destId="{12E7FFB2-72B4-4606-B6C9-5877A62F65F3}" srcOrd="3" destOrd="0" presId="urn:microsoft.com/office/officeart/2016/7/layout/BasicLinearProcessNumbered"/>
    <dgm:cxn modelId="{F7DCF4D1-17A1-49FC-9DC1-0F35969ABA97}" type="presParOf" srcId="{542F859D-7748-4FCF-B5DD-1518C1E1CF45}" destId="{5B69623C-2958-4B66-995F-B04F3DDF52DA}" srcOrd="4" destOrd="0" presId="urn:microsoft.com/office/officeart/2016/7/layout/BasicLinearProcessNumbered"/>
    <dgm:cxn modelId="{4C62E762-907D-4ECD-BAF3-B57AB9DB96D2}" type="presParOf" srcId="{5B69623C-2958-4B66-995F-B04F3DDF52DA}" destId="{4A29D0D1-2A68-4968-9BB2-67B93A7FAD4E}" srcOrd="0" destOrd="0" presId="urn:microsoft.com/office/officeart/2016/7/layout/BasicLinearProcessNumbered"/>
    <dgm:cxn modelId="{06F696EB-9D6E-495D-A71A-1D66389FE29B}" type="presParOf" srcId="{5B69623C-2958-4B66-995F-B04F3DDF52DA}" destId="{50AF2559-B615-41ED-BA9E-F69C852D3A7E}" srcOrd="1" destOrd="0" presId="urn:microsoft.com/office/officeart/2016/7/layout/BasicLinearProcessNumbered"/>
    <dgm:cxn modelId="{6F27CDBF-3445-4AAE-9C17-0CF66433E20B}" type="presParOf" srcId="{5B69623C-2958-4B66-995F-B04F3DDF52DA}" destId="{4F02B3E0-3564-49C9-B5C1-B0595C8D8A56}" srcOrd="2" destOrd="0" presId="urn:microsoft.com/office/officeart/2016/7/layout/BasicLinearProcessNumbered"/>
    <dgm:cxn modelId="{E1E688C2-116F-4CE4-943D-7A80E393DDC3}" type="presParOf" srcId="{5B69623C-2958-4B66-995F-B04F3DDF52DA}" destId="{02564DC9-8E1B-4DBD-8B7A-631A97190C9B}" srcOrd="3" destOrd="0" presId="urn:microsoft.com/office/officeart/2016/7/layout/BasicLinearProcessNumbered"/>
    <dgm:cxn modelId="{C9424B8D-4896-4D61-8DF6-51007E3E1312}" type="presParOf" srcId="{542F859D-7748-4FCF-B5DD-1518C1E1CF45}" destId="{A7C1CA79-E8C0-40B5-A641-610DCE5CDCE1}" srcOrd="5" destOrd="0" presId="urn:microsoft.com/office/officeart/2016/7/layout/BasicLinearProcessNumbered"/>
    <dgm:cxn modelId="{CBAD6587-AB9F-4821-B791-2656BC86951F}" type="presParOf" srcId="{542F859D-7748-4FCF-B5DD-1518C1E1CF45}" destId="{2968F719-A47F-46ED-9431-7B20C5DF4FDA}" srcOrd="6" destOrd="0" presId="urn:microsoft.com/office/officeart/2016/7/layout/BasicLinearProcessNumbered"/>
    <dgm:cxn modelId="{490B900D-D2A8-450E-8D42-F2DB22955061}" type="presParOf" srcId="{2968F719-A47F-46ED-9431-7B20C5DF4FDA}" destId="{3C249A69-3A65-438C-A566-E50AB48FD40E}" srcOrd="0" destOrd="0" presId="urn:microsoft.com/office/officeart/2016/7/layout/BasicLinearProcessNumbered"/>
    <dgm:cxn modelId="{668C5E0A-5006-4140-8897-1E00DA729EBF}" type="presParOf" srcId="{2968F719-A47F-46ED-9431-7B20C5DF4FDA}" destId="{AB51614F-0D13-4C5A-815B-2EC554166A53}" srcOrd="1" destOrd="0" presId="urn:microsoft.com/office/officeart/2016/7/layout/BasicLinearProcessNumbered"/>
    <dgm:cxn modelId="{1E7276DF-7066-441A-95F8-0F7D3006D78E}" type="presParOf" srcId="{2968F719-A47F-46ED-9431-7B20C5DF4FDA}" destId="{24BA2FBE-7720-45DB-8321-97E0507C1C37}" srcOrd="2" destOrd="0" presId="urn:microsoft.com/office/officeart/2016/7/layout/BasicLinearProcessNumbered"/>
    <dgm:cxn modelId="{8E411C34-F2FE-4600-AB83-46CF6460F764}" type="presParOf" srcId="{2968F719-A47F-46ED-9431-7B20C5DF4FDA}" destId="{7A69388A-19F0-4249-AF2C-C3E8CED88CF3}" srcOrd="3" destOrd="0" presId="urn:microsoft.com/office/officeart/2016/7/layout/BasicLinearProcessNumbered"/>
    <dgm:cxn modelId="{978BB086-52EF-4C03-83A8-B892849A5EE2}" type="presParOf" srcId="{542F859D-7748-4FCF-B5DD-1518C1E1CF45}" destId="{8BDDD427-8358-4C56-B190-E39B2FE8E3CD}" srcOrd="7" destOrd="0" presId="urn:microsoft.com/office/officeart/2016/7/layout/BasicLinearProcessNumbered"/>
    <dgm:cxn modelId="{BEA1A489-0D28-4004-B519-A596F4397C26}" type="presParOf" srcId="{542F859D-7748-4FCF-B5DD-1518C1E1CF45}" destId="{F63D41B2-5E59-47DB-9364-CAF92E8413EC}" srcOrd="8" destOrd="0" presId="urn:microsoft.com/office/officeart/2016/7/layout/BasicLinearProcessNumbered"/>
    <dgm:cxn modelId="{75CB7992-31EE-451A-93B0-5E07842D636B}" type="presParOf" srcId="{F63D41B2-5E59-47DB-9364-CAF92E8413EC}" destId="{B3DF5764-1399-49DE-8DE2-42E8DA1F5DFF}" srcOrd="0" destOrd="0" presId="urn:microsoft.com/office/officeart/2016/7/layout/BasicLinearProcessNumbered"/>
    <dgm:cxn modelId="{57622B2B-4A4A-4045-BE9F-06EBDD51A77C}" type="presParOf" srcId="{F63D41B2-5E59-47DB-9364-CAF92E8413EC}" destId="{8B00A949-471C-4A44-8762-19884EDF2489}" srcOrd="1" destOrd="0" presId="urn:microsoft.com/office/officeart/2016/7/layout/BasicLinearProcessNumbered"/>
    <dgm:cxn modelId="{7055F9C1-A3FC-4B80-B021-B5455A1D3266}" type="presParOf" srcId="{F63D41B2-5E59-47DB-9364-CAF92E8413EC}" destId="{528704B4-29EA-434B-896A-D54DC873EE4E}" srcOrd="2" destOrd="0" presId="urn:microsoft.com/office/officeart/2016/7/layout/BasicLinearProcessNumbered"/>
    <dgm:cxn modelId="{846D578A-F728-41AC-86C2-C8AB14F8FA21}" type="presParOf" srcId="{F63D41B2-5E59-47DB-9364-CAF92E8413EC}" destId="{A6093343-18AF-480D-A433-43573F2BCD6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BC6002-E7D3-4E87-BFB3-0551FEEC4A10}">
      <dsp:nvSpPr>
        <dsp:cNvPr id="0" name=""/>
        <dsp:cNvSpPr/>
      </dsp:nvSpPr>
      <dsp:spPr>
        <a:xfrm>
          <a:off x="813" y="663920"/>
          <a:ext cx="3173907" cy="190434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latin typeface="Times New Roman"/>
              <a:cs typeface="Times New Roman"/>
            </a:rPr>
            <a:t>CNN extracts short-term patterns.</a:t>
          </a:r>
          <a:endParaRPr lang="en-US" sz="3200" kern="1200" dirty="0">
            <a:latin typeface="Times New Roman"/>
            <a:cs typeface="Times New Roman"/>
          </a:endParaRPr>
        </a:p>
      </dsp:txBody>
      <dsp:txXfrm>
        <a:off x="813" y="663920"/>
        <a:ext cx="3173907" cy="1904344"/>
      </dsp:txXfrm>
    </dsp:sp>
    <dsp:sp modelId="{758975B9-666E-4C63-9FC2-BDAD3334BBBD}">
      <dsp:nvSpPr>
        <dsp:cNvPr id="0" name=""/>
        <dsp:cNvSpPr/>
      </dsp:nvSpPr>
      <dsp:spPr>
        <a:xfrm>
          <a:off x="3492111" y="663920"/>
          <a:ext cx="3173907" cy="1904344"/>
        </a:xfrm>
        <a:prstGeom prst="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 err="1">
              <a:latin typeface="Times New Roman"/>
              <a:cs typeface="Times New Roman"/>
            </a:rPr>
            <a:t>BiLSTM</a:t>
          </a:r>
          <a:r>
            <a:rPr lang="en-GB" sz="3200" kern="1200" dirty="0">
              <a:latin typeface="Times New Roman"/>
              <a:cs typeface="Times New Roman"/>
            </a:rPr>
            <a:t> captures long-term dependencies.</a:t>
          </a:r>
          <a:endParaRPr lang="en-US" sz="3200" kern="1200" dirty="0">
            <a:latin typeface="Times New Roman"/>
            <a:cs typeface="Times New Roman"/>
          </a:endParaRPr>
        </a:p>
      </dsp:txBody>
      <dsp:txXfrm>
        <a:off x="3492111" y="663920"/>
        <a:ext cx="3173907" cy="1904344"/>
      </dsp:txXfrm>
    </dsp:sp>
    <dsp:sp modelId="{E06C1617-6FD0-49AB-B8CC-636923000E67}">
      <dsp:nvSpPr>
        <dsp:cNvPr id="0" name=""/>
        <dsp:cNvSpPr/>
      </dsp:nvSpPr>
      <dsp:spPr>
        <a:xfrm>
          <a:off x="813" y="2885655"/>
          <a:ext cx="3173907" cy="1904344"/>
        </a:xfrm>
        <a:prstGeom prst="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latin typeface="Times New Roman"/>
              <a:cs typeface="Times New Roman"/>
            </a:rPr>
            <a:t>Output: predicted lead time (days).</a:t>
          </a:r>
          <a:endParaRPr lang="en-US" sz="3200" kern="1200" dirty="0">
            <a:latin typeface="Times New Roman"/>
            <a:cs typeface="Times New Roman"/>
          </a:endParaRPr>
        </a:p>
      </dsp:txBody>
      <dsp:txXfrm>
        <a:off x="813" y="2885655"/>
        <a:ext cx="3173907" cy="1904344"/>
      </dsp:txXfrm>
    </dsp:sp>
    <dsp:sp modelId="{FE569846-8CD5-4BEC-8C21-E919F10178A6}">
      <dsp:nvSpPr>
        <dsp:cNvPr id="0" name=""/>
        <dsp:cNvSpPr/>
      </dsp:nvSpPr>
      <dsp:spPr>
        <a:xfrm>
          <a:off x="3492111" y="2885655"/>
          <a:ext cx="3173907" cy="1904344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latin typeface="Times New Roman"/>
              <a:cs typeface="Times New Roman"/>
            </a:rPr>
            <a:t>Evaluation: MSE, RMSE, MAE.</a:t>
          </a:r>
          <a:endParaRPr lang="en-US" sz="3200" kern="1200" dirty="0">
            <a:latin typeface="Times New Roman"/>
            <a:cs typeface="Times New Roman"/>
          </a:endParaRPr>
        </a:p>
      </dsp:txBody>
      <dsp:txXfrm>
        <a:off x="3492111" y="2885655"/>
        <a:ext cx="3173907" cy="19043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4E0F20-A5B0-47B8-BE3D-7ED37E480E2A}">
      <dsp:nvSpPr>
        <dsp:cNvPr id="0" name=""/>
        <dsp:cNvSpPr/>
      </dsp:nvSpPr>
      <dsp:spPr>
        <a:xfrm>
          <a:off x="0" y="1071918"/>
          <a:ext cx="3414946" cy="20489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Autoencoder learns normal supplier </a:t>
          </a:r>
          <a:r>
            <a:rPr lang="en-GB" sz="3200" kern="1200" dirty="0" err="1"/>
            <a:t>behavior</a:t>
          </a:r>
          <a:r>
            <a:rPr lang="en-GB" sz="3200" kern="1200" dirty="0"/>
            <a:t>.</a:t>
          </a:r>
          <a:endParaRPr lang="en-US" sz="3200" kern="1200" dirty="0"/>
        </a:p>
      </dsp:txBody>
      <dsp:txXfrm>
        <a:off x="0" y="1071918"/>
        <a:ext cx="3414946" cy="2048967"/>
      </dsp:txXfrm>
    </dsp:sp>
    <dsp:sp modelId="{950B4A16-9E54-4C40-BAB0-50B55589D302}">
      <dsp:nvSpPr>
        <dsp:cNvPr id="0" name=""/>
        <dsp:cNvSpPr/>
      </dsp:nvSpPr>
      <dsp:spPr>
        <a:xfrm>
          <a:off x="3756441" y="1071918"/>
          <a:ext cx="3414946" cy="204896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High reconstruction error = abnormal delay.</a:t>
          </a:r>
          <a:endParaRPr lang="en-US" sz="3200" kern="1200" dirty="0"/>
        </a:p>
      </dsp:txBody>
      <dsp:txXfrm>
        <a:off x="3756441" y="1071918"/>
        <a:ext cx="3414946" cy="2048967"/>
      </dsp:txXfrm>
    </dsp:sp>
    <dsp:sp modelId="{991E8CEB-DEA5-458E-8713-CC8B2D0E4592}">
      <dsp:nvSpPr>
        <dsp:cNvPr id="0" name=""/>
        <dsp:cNvSpPr/>
      </dsp:nvSpPr>
      <dsp:spPr>
        <a:xfrm>
          <a:off x="7512882" y="1071918"/>
          <a:ext cx="3414946" cy="204896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OCSVM classifies windows as normal or anomalous.</a:t>
          </a:r>
          <a:endParaRPr lang="en-US" sz="3200" kern="1200" dirty="0"/>
        </a:p>
      </dsp:txBody>
      <dsp:txXfrm>
        <a:off x="7512882" y="1071918"/>
        <a:ext cx="3414946" cy="20489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209B3F-2E1B-4E06-89A2-EBA55BF7ADA9}">
      <dsp:nvSpPr>
        <dsp:cNvPr id="0" name=""/>
        <dsp:cNvSpPr/>
      </dsp:nvSpPr>
      <dsp:spPr>
        <a:xfrm>
          <a:off x="3735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Step 1:</a:t>
          </a:r>
          <a:r>
            <a:rPr lang="en-GB" sz="1100" kern="1200" dirty="0"/>
            <a:t> </a:t>
          </a:r>
          <a:r>
            <a:rPr lang="en-GB" sz="1100" b="1" kern="1200" dirty="0"/>
            <a:t>Data Collection</a:t>
          </a:r>
          <a:br>
            <a:rPr lang="en-GB" sz="1100" b="1" kern="1200" dirty="0"/>
          </a:br>
          <a:r>
            <a:rPr lang="en-GB" sz="1100" b="1" kern="1200" dirty="0"/>
            <a:t> → Gather ERP / supplier data (Supplier, SKU, Route, Order &amp; Receipt Dates).</a:t>
          </a:r>
          <a:endParaRPr lang="en-US" sz="1100" kern="1200" dirty="0"/>
        </a:p>
      </dsp:txBody>
      <dsp:txXfrm>
        <a:off x="3735" y="1504958"/>
        <a:ext cx="2022288" cy="1698722"/>
      </dsp:txXfrm>
    </dsp:sp>
    <dsp:sp modelId="{2344A854-83B0-4B37-A408-EB258E099066}">
      <dsp:nvSpPr>
        <dsp:cNvPr id="0" name=""/>
        <dsp:cNvSpPr/>
      </dsp:nvSpPr>
      <dsp:spPr>
        <a:xfrm>
          <a:off x="590198" y="712220"/>
          <a:ext cx="849361" cy="8493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714584" y="836606"/>
        <a:ext cx="600589" cy="600589"/>
      </dsp:txXfrm>
    </dsp:sp>
    <dsp:sp modelId="{94AB6F2A-590C-47B5-9777-3A1A1A578E07}">
      <dsp:nvSpPr>
        <dsp:cNvPr id="0" name=""/>
        <dsp:cNvSpPr/>
      </dsp:nvSpPr>
      <dsp:spPr>
        <a:xfrm>
          <a:off x="3735" y="3260232"/>
          <a:ext cx="2022288" cy="72"/>
        </a:xfrm>
        <a:prstGeom prst="rect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9C42B-BB1B-4701-8AF3-2A8106CF2207}">
      <dsp:nvSpPr>
        <dsp:cNvPr id="0" name=""/>
        <dsp:cNvSpPr/>
      </dsp:nvSpPr>
      <dsp:spPr>
        <a:xfrm>
          <a:off x="2228252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Step 2:</a:t>
          </a:r>
          <a:r>
            <a:rPr lang="en-GB" sz="1100" kern="1200" dirty="0"/>
            <a:t> </a:t>
          </a:r>
          <a:r>
            <a:rPr lang="en-GB" sz="1100" b="1" kern="1200" dirty="0"/>
            <a:t>Data Preprocessing</a:t>
          </a:r>
          <a:br>
            <a:rPr lang="en-GB" sz="1100" b="1" kern="1200" dirty="0"/>
          </a:br>
          <a:r>
            <a:rPr lang="en-GB" sz="1100" b="1" kern="1200" dirty="0"/>
            <a:t> → Clean data, engineer features , encode categorical and scale numeric values.</a:t>
          </a:r>
          <a:endParaRPr lang="en-US" sz="1100" kern="1200" dirty="0"/>
        </a:p>
      </dsp:txBody>
      <dsp:txXfrm>
        <a:off x="2228252" y="1504958"/>
        <a:ext cx="2022288" cy="1698722"/>
      </dsp:txXfrm>
    </dsp:sp>
    <dsp:sp modelId="{58CDFCA2-A3DD-4A40-9EEA-9D6B30F311AB}">
      <dsp:nvSpPr>
        <dsp:cNvPr id="0" name=""/>
        <dsp:cNvSpPr/>
      </dsp:nvSpPr>
      <dsp:spPr>
        <a:xfrm>
          <a:off x="2814716" y="712220"/>
          <a:ext cx="849361" cy="849361"/>
        </a:xfrm>
        <a:prstGeom prst="ellips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939102" y="836606"/>
        <a:ext cx="600589" cy="600589"/>
      </dsp:txXfrm>
    </dsp:sp>
    <dsp:sp modelId="{F11BB6CE-EA2C-4D82-A311-DC9003FAE14A}">
      <dsp:nvSpPr>
        <dsp:cNvPr id="0" name=""/>
        <dsp:cNvSpPr/>
      </dsp:nvSpPr>
      <dsp:spPr>
        <a:xfrm>
          <a:off x="2228252" y="3260232"/>
          <a:ext cx="2022288" cy="72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29D0D1-2A68-4968-9BB2-67B93A7FAD4E}">
      <dsp:nvSpPr>
        <dsp:cNvPr id="0" name=""/>
        <dsp:cNvSpPr/>
      </dsp:nvSpPr>
      <dsp:spPr>
        <a:xfrm>
          <a:off x="4452770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Step 3:</a:t>
          </a:r>
          <a:r>
            <a:rPr lang="en-GB" sz="1100" kern="1200" dirty="0"/>
            <a:t> </a:t>
          </a:r>
          <a:r>
            <a:rPr lang="en-GB" sz="1100" b="1" kern="1200" dirty="0"/>
            <a:t>Lead-Time Forecasting (CNN–</a:t>
          </a:r>
          <a:r>
            <a:rPr lang="en-GB" sz="1100" b="1" kern="1200" dirty="0" err="1"/>
            <a:t>BiLSTM</a:t>
          </a:r>
          <a:r>
            <a:rPr lang="en-GB" sz="1100" b="1" kern="1200" dirty="0"/>
            <a:t>)</a:t>
          </a:r>
          <a:br>
            <a:rPr lang="en-GB" sz="1100" b="1" kern="1200" dirty="0"/>
          </a:br>
          <a:r>
            <a:rPr lang="en-GB" sz="1100" b="1" kern="1200" dirty="0"/>
            <a:t> → Predict upcoming delivery lead time from historical supplier patterns.</a:t>
          </a:r>
          <a:endParaRPr lang="en-US" sz="1100" kern="1200" dirty="0"/>
        </a:p>
      </dsp:txBody>
      <dsp:txXfrm>
        <a:off x="4452770" y="1504958"/>
        <a:ext cx="2022288" cy="1698722"/>
      </dsp:txXfrm>
    </dsp:sp>
    <dsp:sp modelId="{50AF2559-B615-41ED-BA9E-F69C852D3A7E}">
      <dsp:nvSpPr>
        <dsp:cNvPr id="0" name=""/>
        <dsp:cNvSpPr/>
      </dsp:nvSpPr>
      <dsp:spPr>
        <a:xfrm>
          <a:off x="5039233" y="712220"/>
          <a:ext cx="849361" cy="849361"/>
        </a:xfrm>
        <a:prstGeom prst="ellips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5163619" y="836606"/>
        <a:ext cx="600589" cy="600589"/>
      </dsp:txXfrm>
    </dsp:sp>
    <dsp:sp modelId="{4F02B3E0-3564-49C9-B5C1-B0595C8D8A56}">
      <dsp:nvSpPr>
        <dsp:cNvPr id="0" name=""/>
        <dsp:cNvSpPr/>
      </dsp:nvSpPr>
      <dsp:spPr>
        <a:xfrm>
          <a:off x="4452770" y="3260232"/>
          <a:ext cx="2022288" cy="72"/>
        </a:xfrm>
        <a:prstGeom prst="rect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249A69-3A65-438C-A566-E50AB48FD40E}">
      <dsp:nvSpPr>
        <dsp:cNvPr id="0" name=""/>
        <dsp:cNvSpPr/>
      </dsp:nvSpPr>
      <dsp:spPr>
        <a:xfrm>
          <a:off x="6677287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Step 4:</a:t>
          </a:r>
          <a:r>
            <a:rPr lang="en-GB" sz="1100" kern="1200" dirty="0"/>
            <a:t> </a:t>
          </a:r>
          <a:r>
            <a:rPr lang="en-GB" sz="1100" b="1" kern="1200" dirty="0"/>
            <a:t>Anomaly Detection (LSTM-AE + OCSVM)</a:t>
          </a:r>
          <a:br>
            <a:rPr lang="en-GB" sz="1100" b="1" kern="1200" dirty="0"/>
          </a:br>
          <a:r>
            <a:rPr lang="en-GB" sz="1100" b="1" kern="1200" dirty="0"/>
            <a:t> → Identify abnormal supplier behaviour or unexpected delay spikes.</a:t>
          </a:r>
          <a:endParaRPr lang="en-US" sz="1100" kern="1200" dirty="0"/>
        </a:p>
      </dsp:txBody>
      <dsp:txXfrm>
        <a:off x="6677287" y="1504958"/>
        <a:ext cx="2022288" cy="1698722"/>
      </dsp:txXfrm>
    </dsp:sp>
    <dsp:sp modelId="{AB51614F-0D13-4C5A-815B-2EC554166A53}">
      <dsp:nvSpPr>
        <dsp:cNvPr id="0" name=""/>
        <dsp:cNvSpPr/>
      </dsp:nvSpPr>
      <dsp:spPr>
        <a:xfrm>
          <a:off x="7263751" y="712220"/>
          <a:ext cx="849361" cy="849361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7388137" y="836606"/>
        <a:ext cx="600589" cy="600589"/>
      </dsp:txXfrm>
    </dsp:sp>
    <dsp:sp modelId="{24BA2FBE-7720-45DB-8321-97E0507C1C37}">
      <dsp:nvSpPr>
        <dsp:cNvPr id="0" name=""/>
        <dsp:cNvSpPr/>
      </dsp:nvSpPr>
      <dsp:spPr>
        <a:xfrm>
          <a:off x="6677287" y="3260232"/>
          <a:ext cx="2022288" cy="72"/>
        </a:xfrm>
        <a:prstGeom prst="rect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F5764-1399-49DE-8DE2-42E8DA1F5DFF}">
      <dsp:nvSpPr>
        <dsp:cNvPr id="0" name=""/>
        <dsp:cNvSpPr/>
      </dsp:nvSpPr>
      <dsp:spPr>
        <a:xfrm>
          <a:off x="8901805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Step 5:</a:t>
          </a:r>
          <a:r>
            <a:rPr lang="en-GB" sz="1100" kern="1200" dirty="0"/>
            <a:t> </a:t>
          </a:r>
          <a:r>
            <a:rPr lang="en-GB" sz="1100" b="1" kern="1200" dirty="0"/>
            <a:t>Model Integration (Fast API)</a:t>
          </a:r>
          <a:br>
            <a:rPr lang="en-GB" sz="1100" b="1" kern="1200" dirty="0"/>
          </a:br>
          <a:r>
            <a:rPr lang="en-GB" sz="1100" b="1" kern="1200" dirty="0"/>
            <a:t> → Host models as REST APIs -</a:t>
          </a:r>
          <a:r>
            <a:rPr lang="en-GB" sz="1100" kern="1200" dirty="0"/>
            <a:t> </a:t>
          </a:r>
          <a:r>
            <a:rPr lang="en-GB" sz="1100" b="1" kern="1200" dirty="0"/>
            <a:t>Visualization </a:t>
          </a:r>
          <a:br>
            <a:rPr lang="en-GB" sz="1100" b="1" kern="1200" dirty="0"/>
          </a:br>
          <a:r>
            <a:rPr lang="en-GB" sz="1100" b="1" kern="1200" dirty="0"/>
            <a:t> → Display predicted lead times, anomaly alerts, and performance metrics in real time.</a:t>
          </a:r>
          <a:endParaRPr lang="en-US" sz="1100" kern="1200" dirty="0"/>
        </a:p>
      </dsp:txBody>
      <dsp:txXfrm>
        <a:off x="8901805" y="1504958"/>
        <a:ext cx="2022288" cy="1698722"/>
      </dsp:txXfrm>
    </dsp:sp>
    <dsp:sp modelId="{8B00A949-471C-4A44-8762-19884EDF2489}">
      <dsp:nvSpPr>
        <dsp:cNvPr id="0" name=""/>
        <dsp:cNvSpPr/>
      </dsp:nvSpPr>
      <dsp:spPr>
        <a:xfrm>
          <a:off x="9488268" y="712220"/>
          <a:ext cx="849361" cy="849361"/>
        </a:xfrm>
        <a:prstGeom prst="ellipse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5</a:t>
          </a:r>
        </a:p>
      </dsp:txBody>
      <dsp:txXfrm>
        <a:off x="9612654" y="836606"/>
        <a:ext cx="600589" cy="600589"/>
      </dsp:txXfrm>
    </dsp:sp>
    <dsp:sp modelId="{528704B4-29EA-434B-896A-D54DC873EE4E}">
      <dsp:nvSpPr>
        <dsp:cNvPr id="0" name=""/>
        <dsp:cNvSpPr/>
      </dsp:nvSpPr>
      <dsp:spPr>
        <a:xfrm>
          <a:off x="8901805" y="3260232"/>
          <a:ext cx="2022288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5EEC85-5B6C-4EE0-B240-6BBE25E621F5}" type="datetimeFigureOut">
              <a:rPr lang="de-DE" smtClean="0"/>
              <a:t>16.10.2025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45BEB-7356-4F91-A55E-70D2887371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1121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81FC-1FB8-486F-8E85-737733A33F5C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831-3E2B-411D-B4B2-D3CFED88DF18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DDD28-591E-44ED-8136-91614673955F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FE3D1-B823-4653-88F8-7C58F7A13521}" type="datetime1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6F1C3-1E1E-4031-B88D-31450889C73B}" type="datetime1">
              <a:rPr lang="en-GB" smtClean="0"/>
              <a:t>16/10/2025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8FB87-E8C1-4548-9E9E-4FFDDB7DA0E9}" type="datetime1">
              <a:rPr lang="en-GB" smtClean="0"/>
              <a:t>16/10/2025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A6E6-4A56-461F-A36C-F2ECD70603C0}" type="datetime1">
              <a:rPr lang="en-GB" smtClean="0"/>
              <a:t>16/10/2025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1D27C-DFEA-4827-8118-58002A7BFAEB}" type="datetime1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F0B1D-E467-4D3E-BF92-95EDC6A6E57D}" type="datetime1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6FF44-E882-4938-8EEC-A1977AF603C8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8DBDA-E7DE-4E38-8289-399BF2C6C5B0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8EF1A-7BB8-4AB6-AE71-6C3D0137A0CE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300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CBE33-FC11-4D81-8738-DA7E13A4B12F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87741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91043-1531-4EAE-88CF-A9A6FAEC5951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731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8C07-8BF7-4D8D-B760-3AC4B5BCAF90}" type="datetime1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583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EC83-0DC9-459C-97E6-D6986C504BE0}" type="datetime1">
              <a:rPr lang="en-GB" smtClean="0"/>
              <a:t>16/10/2025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2176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4A3D-45AD-4D31-9B5A-20B697B9D9FA}" type="datetime1">
              <a:rPr lang="en-GB" smtClean="0"/>
              <a:t>16/10/2025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2941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5D41-0556-4783-8921-3AD2079573B4}" type="datetime1">
              <a:rPr lang="en-GB" smtClean="0"/>
              <a:t>16/10/2025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5908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553-D2BB-4650-A31C-7DB4C13E0387}" type="datetime1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79501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7A321-9F3B-4FCF-BBCC-31707CFAD048}" type="datetime1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133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7BBE2-7704-4A19-9496-AB6C607A3FE9}" type="datetime1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3656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514F8-917B-45B0-8F86-ED817D125E6A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3769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55EC9-DC32-48C8-AFC6-52DD5CD2DC2A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4657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AC846-688F-4B9C-B444-451A8A0945C8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5073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2501-DD5E-45E5-8EFF-AFCB8DC7222D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0311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894A-8D07-432D-A496-6915EFFF91FF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639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F65F-74EB-45D3-8E5C-F4E1F03B300C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5936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A455-67F0-4E38-87B8-171B37C86E22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605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22C0E-3416-4840-813B-3C4FA7A5EA34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7FD41DD-8DB5-4E29-AC89-17DEDB1C43E5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83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448" y="1925380"/>
            <a:ext cx="10139774" cy="1371686"/>
          </a:xfrm>
          <a:ln>
            <a:noFill/>
          </a:ln>
        </p:spPr>
        <p:txBody>
          <a:bodyPr>
            <a:normAutofit fontScale="90000"/>
          </a:bodyPr>
          <a:lstStyle/>
          <a:p>
            <a:pPr algn="ctr"/>
            <a:r>
              <a:rPr lang="en-GB" sz="2400" b="1" dirty="0">
                <a:latin typeface="Times New Roman"/>
                <a:cs typeface="Times New Roman"/>
              </a:rPr>
              <a:t>AI-Based Lead-Time Forecasting and Anomaly Detection in Supply Chain Using CNN-</a:t>
            </a:r>
            <a:r>
              <a:rPr lang="en-GB" sz="2400" b="1" dirty="0" err="1">
                <a:latin typeface="Times New Roman"/>
                <a:cs typeface="Times New Roman"/>
              </a:rPr>
              <a:t>BiLSTM</a:t>
            </a:r>
            <a:r>
              <a:rPr lang="en-GB" sz="2400" b="1" dirty="0">
                <a:latin typeface="Times New Roman"/>
                <a:cs typeface="Times New Roman"/>
              </a:rPr>
              <a:t> and LSTM-Autoencoder </a:t>
            </a:r>
            <a:br>
              <a:rPr lang="en-GB" sz="2400" b="1" dirty="0">
                <a:latin typeface="Times New Roman"/>
                <a:cs typeface="Times New Roman"/>
              </a:rPr>
            </a:br>
            <a:br>
              <a:rPr lang="en-GB" sz="2400" b="1" dirty="0">
                <a:highlight>
                  <a:srgbClr val="0000FF"/>
                </a:highlight>
                <a:latin typeface="Times New Roman"/>
                <a:cs typeface="Times New Roman"/>
              </a:rPr>
            </a:br>
            <a:r>
              <a:rPr lang="en-GB" sz="2400" b="1" dirty="0">
                <a:solidFill>
                  <a:schemeClr val="bg1"/>
                </a:solidFill>
                <a:highlight>
                  <a:srgbClr val="0000FF"/>
                </a:highlight>
                <a:latin typeface="Times New Roman"/>
                <a:cs typeface="Times New Roman"/>
              </a:rPr>
              <a:t>Case Study- Intelligence System In Production (Group B)</a:t>
            </a:r>
          </a:p>
        </p:txBody>
      </p:sp>
      <p:sp>
        <p:nvSpPr>
          <p:cNvPr id="3" name="Subtitle 2"/>
          <p:cNvSpPr>
            <a:spLocks noGrp="1"/>
          </p:cNvSpPr>
          <p:nvPr>
            <p:ph sz="half" idx="1"/>
          </p:nvPr>
        </p:nvSpPr>
        <p:spPr>
          <a:xfrm>
            <a:off x="1592205" y="3498078"/>
            <a:ext cx="4503795" cy="28798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 b="1" dirty="0">
                <a:latin typeface="Times New Roman"/>
                <a:cs typeface="Times New Roman"/>
              </a:rPr>
              <a:t>Presented to:</a:t>
            </a:r>
          </a:p>
          <a:p>
            <a:pPr marL="0" indent="0">
              <a:buNone/>
            </a:pPr>
            <a:r>
              <a:rPr lang="en-GB" sz="2000" b="1" dirty="0">
                <a:latin typeface="Times New Roman"/>
                <a:cs typeface="Times New Roman"/>
              </a:rPr>
              <a:t>                Prof. Hamidreza Heidari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A0B045-E60E-56FE-9988-C64D74742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34851" y="3498078"/>
            <a:ext cx="5243384" cy="35644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 b="1" dirty="0">
                <a:latin typeface="Times New Roman"/>
                <a:cs typeface="Times New Roman"/>
              </a:rPr>
              <a:t>Presented by:</a:t>
            </a:r>
          </a:p>
          <a:p>
            <a:pPr marL="0" indent="0">
              <a:buNone/>
            </a:pPr>
            <a:r>
              <a:rPr lang="en-GB" sz="2000" b="1" dirty="0">
                <a:latin typeface="Times New Roman"/>
                <a:cs typeface="Times New Roman"/>
              </a:rPr>
              <a:t>               </a:t>
            </a:r>
            <a:r>
              <a:rPr lang="en-GB" sz="2000" b="1" dirty="0" err="1">
                <a:latin typeface="Times New Roman"/>
                <a:cs typeface="Times New Roman"/>
              </a:rPr>
              <a:t>Jayneshkumar</a:t>
            </a:r>
            <a:r>
              <a:rPr lang="en-GB" sz="2000" b="1" dirty="0">
                <a:latin typeface="Times New Roman"/>
                <a:cs typeface="Times New Roman"/>
              </a:rPr>
              <a:t> Tandel(22403500)</a:t>
            </a:r>
          </a:p>
          <a:p>
            <a:pPr marL="0" indent="0">
              <a:buNone/>
            </a:pPr>
            <a:r>
              <a:rPr lang="en-GB" sz="2000" b="1" dirty="0">
                <a:latin typeface="Times New Roman"/>
                <a:cs typeface="Times New Roman"/>
              </a:rPr>
              <a:t>               Riken Patel(22409741)</a:t>
            </a:r>
          </a:p>
          <a:p>
            <a:pPr marL="0" indent="0">
              <a:buNone/>
            </a:pPr>
            <a:r>
              <a:rPr lang="en-GB" sz="2000" b="1" dirty="0">
                <a:latin typeface="Times New Roman"/>
                <a:cs typeface="Times New Roman"/>
              </a:rPr>
              <a:t>               </a:t>
            </a:r>
            <a:r>
              <a:rPr lang="en-GB" sz="2000" b="1" dirty="0" err="1">
                <a:latin typeface="Times New Roman"/>
                <a:cs typeface="Times New Roman"/>
              </a:rPr>
              <a:t>Nikunjkumar</a:t>
            </a:r>
            <a:r>
              <a:rPr lang="en-GB" sz="2000" b="1" dirty="0">
                <a:latin typeface="Times New Roman"/>
                <a:cs typeface="Times New Roman"/>
              </a:rPr>
              <a:t> Mistry(12403425)</a:t>
            </a:r>
          </a:p>
          <a:p>
            <a:pPr marL="0" indent="0">
              <a:buNone/>
            </a:pPr>
            <a:r>
              <a:rPr lang="en-GB" sz="2000" b="1" dirty="0">
                <a:latin typeface="Times New Roman"/>
                <a:cs typeface="Times New Roman"/>
              </a:rPr>
              <a:t>               Tulsi Barot(22304477)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75B0D-2367-1556-B656-0BC1918D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</a:t>
            </a:fld>
            <a:endParaRPr lang="en-GB"/>
          </a:p>
        </p:txBody>
      </p:sp>
      <p:pic>
        <p:nvPicPr>
          <p:cNvPr id="5" name="Picture 4" descr="A grey and white logo&#10;&#10;AI-generated content may be incorrect.">
            <a:extLst>
              <a:ext uri="{FF2B5EF4-FFF2-40B4-BE49-F238E27FC236}">
                <a16:creationId xmlns:a16="http://schemas.microsoft.com/office/drawing/2014/main" id="{4E41FD10-D39D-6B0C-7B5A-A0611F982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449" y="352683"/>
            <a:ext cx="10139774" cy="137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27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E4610C-01EB-131A-8B71-8CEAF0EEA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47FE261B-2F99-C1D3-D54B-10AD63665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127B69AD-E328-43C5-7B6F-28FE2155E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4C8F3AF-4E72-AD0F-7347-522666E1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9E5A313-71C4-DF57-08F7-DADAE05B1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2F77A48-5FFF-4E9F-E4D3-6F23820CF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Freeform: Shape 54">
            <a:extLst>
              <a:ext uri="{FF2B5EF4-FFF2-40B4-BE49-F238E27FC236}">
                <a16:creationId xmlns:a16="http://schemas.microsoft.com/office/drawing/2014/main" id="{83D6FBCC-EFFB-C6A6-6144-8DC5D570B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B798027-D6AC-3845-B5AB-05BA3252E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0DB82C-86A3-A698-34BF-EEC5296C2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de-DE" sz="4000" dirty="0">
                <a:solidFill>
                  <a:srgbClr val="FFFFFF"/>
                </a:solidFill>
                <a:latin typeface="Times New Roman"/>
                <a:cs typeface="Times New Roman"/>
              </a:rPr>
              <a:t>Content</a:t>
            </a:r>
            <a:endParaRPr lang="en-GB" sz="40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813E9-F6E0-5352-D42C-E674126F6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/>
                <a:ea typeface="+mn-lt"/>
                <a:cs typeface="+mn-lt"/>
              </a:rPr>
              <a:t>Problem Statement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/>
                <a:ea typeface="+mn-lt"/>
                <a:cs typeface="+mn-lt"/>
              </a:rPr>
              <a:t>Objective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/>
                <a:ea typeface="+mn-lt"/>
                <a:cs typeface="+mn-lt"/>
              </a:rPr>
              <a:t>Model 1: CNN–</a:t>
            </a:r>
            <a:r>
              <a:rPr lang="en-US" sz="2000" dirty="0" err="1">
                <a:latin typeface="Times New Roman"/>
                <a:ea typeface="+mn-lt"/>
                <a:cs typeface="+mn-lt"/>
              </a:rPr>
              <a:t>BiLSTM</a:t>
            </a:r>
            <a:endParaRPr lang="en-US" sz="2000" dirty="0">
              <a:latin typeface="Times New Roman"/>
              <a:ea typeface="+mn-lt"/>
              <a:cs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/>
                <a:ea typeface="+mn-lt"/>
                <a:cs typeface="+mn-lt"/>
              </a:rPr>
              <a:t>Model 2: LSTM-AE + OCSVM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/>
                <a:ea typeface="+mn-lt"/>
                <a:cs typeface="+mn-lt"/>
              </a:rPr>
              <a:t>Model Roles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/>
                <a:ea typeface="+mn-lt"/>
                <a:cs typeface="+mn-lt"/>
              </a:rPr>
              <a:t>System Architecture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/>
                <a:ea typeface="+mn-lt"/>
                <a:cs typeface="+mn-lt"/>
              </a:rPr>
              <a:t>Tools &amp; Technologies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/>
                <a:ea typeface="+mn-lt"/>
                <a:cs typeface="+mn-lt"/>
              </a:rPr>
              <a:t>Challenges &amp; Solutions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/>
                <a:ea typeface="+mn-lt"/>
                <a:cs typeface="+mn-lt"/>
              </a:rPr>
              <a:t>References</a:t>
            </a:r>
          </a:p>
          <a:p>
            <a:endParaRPr lang="en-GB" sz="20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C4AD2-B77E-8F97-BD1E-EB519C1C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333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Freeform: Shape 5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9B734D-7CDC-9925-709E-E7B4AC1EA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br>
              <a:rPr lang="en-GB" sz="4000" dirty="0">
                <a:solidFill>
                  <a:srgbClr val="FFFFFF"/>
                </a:solidFill>
                <a:latin typeface="Times New Roman"/>
                <a:cs typeface="Times New Roman"/>
              </a:rPr>
            </a:br>
            <a:r>
              <a:rPr lang="en-US" sz="4000" dirty="0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endParaRPr lang="en-GB" sz="40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3002F-F871-066C-54A8-93A29C170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 dirty="0">
                <a:latin typeface="Times New Roman"/>
                <a:ea typeface="+mn-lt"/>
                <a:cs typeface="+mn-lt"/>
              </a:rPr>
              <a:t>Unpredictable supplier lead times cause frequent delays and inefficiencies in the supply chain.</a:t>
            </a:r>
            <a:endParaRPr lang="en-GB" sz="2000" dirty="0">
              <a:latin typeface="Times New Roman"/>
              <a:ea typeface="+mn-lt"/>
              <a:cs typeface="Times New Roman"/>
            </a:endParaRPr>
          </a:p>
          <a:p>
            <a:r>
              <a:rPr lang="en-GB" sz="2000" dirty="0">
                <a:latin typeface="Times New Roman"/>
                <a:ea typeface="+mn-lt"/>
                <a:cs typeface="+mn-lt"/>
              </a:rPr>
              <a:t>Existing ERP systems record data but cannot predict future lead times or detect abnormal supplier </a:t>
            </a:r>
            <a:r>
              <a:rPr lang="en-GB" sz="2000" dirty="0" err="1">
                <a:latin typeface="Times New Roman"/>
                <a:ea typeface="+mn-lt"/>
                <a:cs typeface="+mn-lt"/>
              </a:rPr>
              <a:t>behavior</a:t>
            </a:r>
            <a:r>
              <a:rPr lang="en-GB" sz="2000" dirty="0">
                <a:latin typeface="Times New Roman"/>
                <a:ea typeface="+mn-lt"/>
                <a:cs typeface="+mn-lt"/>
              </a:rPr>
              <a:t>, leading to poor planning and disruptions.</a:t>
            </a:r>
            <a:endParaRPr lang="en-GB" sz="20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98915-76BB-E309-959C-2416BB0A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6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BC0131-6BE4-8496-A04A-26D04A85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  <a:latin typeface="Times New Roman"/>
                <a:cs typeface="Times New Roman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98E28-A227-CF53-8FA7-EAD73FA7C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982" y="1264701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GB" sz="2000" dirty="0">
                <a:latin typeface="Times New Roman"/>
                <a:ea typeface="+mn-lt"/>
                <a:cs typeface="+mn-lt"/>
              </a:rPr>
              <a:t>To develop an AI-based system that accurately forecasts supplier lead times using a CNN–</a:t>
            </a:r>
            <a:r>
              <a:rPr lang="en-GB" sz="2000" dirty="0" err="1">
                <a:latin typeface="Times New Roman"/>
                <a:ea typeface="+mn-lt"/>
                <a:cs typeface="+mn-lt"/>
              </a:rPr>
              <a:t>BiLSTM</a:t>
            </a:r>
            <a:r>
              <a:rPr lang="en-GB" sz="2000" dirty="0">
                <a:latin typeface="Times New Roman"/>
                <a:ea typeface="+mn-lt"/>
                <a:cs typeface="+mn-lt"/>
              </a:rPr>
              <a:t> model and automatically detects anomalies in supplier </a:t>
            </a:r>
            <a:r>
              <a:rPr lang="en-GB" sz="2000" dirty="0" err="1">
                <a:latin typeface="Times New Roman"/>
                <a:ea typeface="+mn-lt"/>
                <a:cs typeface="+mn-lt"/>
              </a:rPr>
              <a:t>behavior</a:t>
            </a:r>
            <a:r>
              <a:rPr lang="en-GB" sz="2000" dirty="0">
                <a:latin typeface="Times New Roman"/>
                <a:ea typeface="+mn-lt"/>
                <a:cs typeface="+mn-lt"/>
              </a:rPr>
              <a:t> through an LSTM Autoencoder with One-Class SVM, integrated into an interactive dashboard for real-time monitoring and decision support.</a:t>
            </a:r>
            <a:endParaRPr lang="en-GB" sz="20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92800-9074-1C8A-3CCA-70303C72C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79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27973E-4CAB-65A6-D390-21BCE07A5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GB" sz="4000" dirty="0">
                <a:solidFill>
                  <a:srgbClr val="FFFFFF"/>
                </a:solidFill>
                <a:latin typeface="Times New Roman"/>
                <a:cs typeface="Times New Roman"/>
              </a:rPr>
              <a:t>Model 1: Lead-Time Forecasting (CNN–</a:t>
            </a:r>
            <a:r>
              <a:rPr lang="en-GB" sz="4000" dirty="0" err="1">
                <a:solidFill>
                  <a:srgbClr val="FFFFFF"/>
                </a:solidFill>
                <a:latin typeface="Times New Roman"/>
                <a:cs typeface="Times New Roman"/>
              </a:rPr>
              <a:t>BiLSTM</a:t>
            </a:r>
            <a:r>
              <a:rPr lang="en-GB" sz="3100" dirty="0">
                <a:solidFill>
                  <a:srgbClr val="FFFFFF"/>
                </a:solidFill>
                <a:latin typeface="Times New Roman"/>
                <a:ea typeface="Calibri"/>
                <a:cs typeface="Calibri"/>
              </a:rPr>
              <a:t>)</a:t>
            </a:r>
            <a:endParaRPr lang="en-US" sz="3100" dirty="0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49C2B6B5-BA13-E24D-5843-9D5431B1C0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905435"/>
              </p:ext>
            </p:extLst>
          </p:nvPr>
        </p:nvGraphicFramePr>
        <p:xfrm>
          <a:off x="4925647" y="812224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835FBB-6A4C-2A91-EEC5-B257AD1E2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324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4" name="Rectangle 1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B8E4A-54D9-F71C-6A31-18377A7CC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88" y="349112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3400" dirty="0">
                <a:solidFill>
                  <a:srgbClr val="FFFFFF"/>
                </a:solidFill>
                <a:latin typeface="Times New Roman"/>
                <a:ea typeface="Calibri"/>
                <a:cs typeface="Calibri"/>
              </a:rPr>
              <a:t>Model 2: Anomaly Detection (LSTM-AE + OCSVM)</a:t>
            </a:r>
            <a:endParaRPr lang="en-US" sz="3400" dirty="0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333A1A21-F05E-F3DE-43C5-01FF57CC60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723084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DD592A-6B21-8C75-51E1-95EE8F56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69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6DB4A-AFFC-98C1-06B1-13C08DFC7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13A8B405-F427-6D99-6C63-B6722D0E6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E0AD097-18BC-355A-7DC4-26F6960D8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144BABE-BA61-9DB7-AA32-13B6EA828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C4A0E11-0065-0536-3FBC-28FF96658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A58CB8-C32B-CEBF-C1D9-B749CE057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188" y="233293"/>
            <a:ext cx="9718111" cy="1576446"/>
          </a:xfrm>
        </p:spPr>
        <p:txBody>
          <a:bodyPr anchor="ctr">
            <a:normAutofit/>
          </a:bodyPr>
          <a:lstStyle/>
          <a:p>
            <a:r>
              <a:rPr lang="de-DE" sz="4000" dirty="0">
                <a:solidFill>
                  <a:srgbClr val="FFFFFF"/>
                </a:solidFill>
                <a:latin typeface="Times New Roman"/>
                <a:cs typeface="Times New Roman"/>
              </a:rPr>
              <a:t>Model </a:t>
            </a:r>
            <a:r>
              <a:rPr lang="de-DE" sz="4000" dirty="0" err="1">
                <a:solidFill>
                  <a:srgbClr val="FFFFFF"/>
                </a:solidFill>
                <a:latin typeface="Times New Roman"/>
                <a:cs typeface="Times New Roman"/>
              </a:rPr>
              <a:t>Roles</a:t>
            </a:r>
            <a:endParaRPr lang="en-GB" sz="40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16C74B-85DE-05ED-6874-B8848DBE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7</a:t>
            </a:fld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4EB06B6-16EF-3BBA-451D-5F46714DC5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9506889"/>
              </p:ext>
            </p:extLst>
          </p:nvPr>
        </p:nvGraphicFramePr>
        <p:xfrm>
          <a:off x="609600" y="2209533"/>
          <a:ext cx="10972799" cy="2877957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522567">
                  <a:extLst>
                    <a:ext uri="{9D8B030D-6E8A-4147-A177-3AD203B41FA5}">
                      <a16:colId xmlns:a16="http://schemas.microsoft.com/office/drawing/2014/main" val="214780464"/>
                    </a:ext>
                  </a:extLst>
                </a:gridCol>
                <a:gridCol w="3725116">
                  <a:extLst>
                    <a:ext uri="{9D8B030D-6E8A-4147-A177-3AD203B41FA5}">
                      <a16:colId xmlns:a16="http://schemas.microsoft.com/office/drawing/2014/main" val="648282475"/>
                    </a:ext>
                  </a:extLst>
                </a:gridCol>
                <a:gridCol w="3725116">
                  <a:extLst>
                    <a:ext uri="{9D8B030D-6E8A-4147-A177-3AD203B41FA5}">
                      <a16:colId xmlns:a16="http://schemas.microsoft.com/office/drawing/2014/main" val="229651582"/>
                    </a:ext>
                  </a:extLst>
                </a:gridCol>
              </a:tblGrid>
              <a:tr h="330390">
                <a:tc>
                  <a:txBody>
                    <a:bodyPr/>
                    <a:lstStyle/>
                    <a:p>
                      <a:r>
                        <a:rPr lang="de-DE" b="1" dirty="0"/>
                        <a:t>Model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Acts Like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Job in  Project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218690"/>
                  </a:ext>
                </a:extLst>
              </a:tr>
              <a:tr h="500517">
                <a:tc>
                  <a:txBody>
                    <a:bodyPr/>
                    <a:lstStyle/>
                    <a:p>
                      <a:r>
                        <a:rPr lang="de-DE"/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Pattern </a:t>
                      </a:r>
                      <a:r>
                        <a:rPr lang="de-DE" dirty="0" err="1"/>
                        <a:t>detector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Finds short-term variations in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617336"/>
                  </a:ext>
                </a:extLst>
              </a:tr>
              <a:tr h="578182">
                <a:tc>
                  <a:txBody>
                    <a:bodyPr/>
                    <a:lstStyle/>
                    <a:p>
                      <a:r>
                        <a:rPr lang="de-DE" dirty="0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Memory unit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Remembers long-term dependencies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3188682"/>
                  </a:ext>
                </a:extLst>
              </a:tr>
              <a:tr h="578182">
                <a:tc>
                  <a:txBody>
                    <a:bodyPr/>
                    <a:lstStyle/>
                    <a:p>
                      <a:r>
                        <a:rPr lang="de-DE"/>
                        <a:t>BiLSTM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Two-way brain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Looks at past and near-future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4271205"/>
                  </a:ext>
                </a:extLst>
              </a:tr>
              <a:tr h="330390">
                <a:tc>
                  <a:txBody>
                    <a:bodyPr/>
                    <a:lstStyle/>
                    <a:p>
                      <a:r>
                        <a:rPr lang="de-DE"/>
                        <a:t>Autoencoder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Teacher </a:t>
                      </a:r>
                      <a:r>
                        <a:rPr lang="de-DE" dirty="0" err="1"/>
                        <a:t>of</a:t>
                      </a:r>
                      <a:r>
                        <a:rPr lang="de-DE" dirty="0"/>
                        <a:t> “normal”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Detects anything unusual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395723"/>
                  </a:ext>
                </a:extLst>
              </a:tr>
              <a:tr h="330390">
                <a:tc>
                  <a:txBody>
                    <a:bodyPr/>
                    <a:lstStyle/>
                    <a:p>
                      <a:r>
                        <a:rPr lang="de-DE" dirty="0"/>
                        <a:t>OCSVM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Anomaly judge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Decides if a pattern is abnormal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535019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BA295D4-D809-41A8-6951-F11790DD2414}"/>
              </a:ext>
            </a:extLst>
          </p:cNvPr>
          <p:cNvSpPr txBox="1"/>
          <p:nvPr/>
        </p:nvSpPr>
        <p:spPr>
          <a:xfrm>
            <a:off x="744070" y="5103989"/>
            <a:ext cx="1050215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?</a:t>
            </a:r>
          </a:p>
          <a:p>
            <a:r>
              <a:rPr lang="en-US" sz="1600" dirty="0"/>
              <a:t>CNN–</a:t>
            </a:r>
            <a:r>
              <a:rPr lang="en-US" sz="1600" dirty="0" err="1"/>
              <a:t>BiLSTM</a:t>
            </a:r>
            <a:r>
              <a:rPr lang="en-US" sz="1600" dirty="0"/>
              <a:t> = </a:t>
            </a:r>
            <a:r>
              <a:rPr lang="en-US" sz="1600" b="1" dirty="0"/>
              <a:t>Predict the future</a:t>
            </a:r>
            <a:r>
              <a:rPr lang="en-US" sz="1600" dirty="0"/>
              <a:t> (forecasting)</a:t>
            </a:r>
          </a:p>
          <a:p>
            <a:r>
              <a:rPr lang="en-US" sz="1600" dirty="0"/>
              <a:t>LSTM-AE + OCSVM = </a:t>
            </a:r>
            <a:r>
              <a:rPr lang="en-US" sz="1600" b="1" dirty="0"/>
              <a:t>Protect against risk</a:t>
            </a:r>
            <a:r>
              <a:rPr lang="en-US" sz="1600" dirty="0"/>
              <a:t> (anomaly detection)</a:t>
            </a:r>
          </a:p>
          <a:p>
            <a:r>
              <a:rPr lang="en-US" sz="1600" dirty="0"/>
              <a:t>Together they form a </a:t>
            </a:r>
            <a:r>
              <a:rPr lang="en-US" sz="1600" b="1" dirty="0"/>
              <a:t>complete intelligent system</a:t>
            </a:r>
            <a:r>
              <a:rPr lang="en-US" sz="1600" dirty="0"/>
              <a:t> — one predicts, the other monitors — giving the supply chain both </a:t>
            </a:r>
            <a:r>
              <a:rPr lang="en-US" sz="1600" b="1" dirty="0"/>
              <a:t>foresight and control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7380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9F6BC-16AF-682C-0FEC-275804D23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  <a:latin typeface="Times New Roman"/>
                <a:cs typeface="Times New Roman"/>
              </a:rPr>
              <a:t>System Architecture</a:t>
            </a:r>
          </a:p>
        </p:txBody>
      </p:sp>
      <p:graphicFrame>
        <p:nvGraphicFramePr>
          <p:cNvPr id="71" name="Content Placeholder 2">
            <a:extLst>
              <a:ext uri="{FF2B5EF4-FFF2-40B4-BE49-F238E27FC236}">
                <a16:creationId xmlns:a16="http://schemas.microsoft.com/office/drawing/2014/main" id="{EE5F5900-2B0B-47EB-95F0-1DF5CD42F7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852639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0A7219-3B15-9995-0434-560956E34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960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C75AF-4F84-5896-21D5-ADE5E8DBA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F41240B8-4C81-C784-0B2C-44C547682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E4A6B5D-A7B6-84AB-54DC-07F9A7FE1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14D2C8F-03F2-B027-C0A6-E54415086A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CF496B3-A0AE-1CC0-6393-3EFDDEA2A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227D2D-E569-69DD-2B9B-CB7E06B8D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4000" dirty="0">
                <a:solidFill>
                  <a:srgbClr val="FFFFFF"/>
                </a:solidFill>
                <a:latin typeface="Times New Roman"/>
                <a:cs typeface="Times New Roman"/>
              </a:rPr>
              <a:t>Tools &amp; Technologies</a:t>
            </a:r>
            <a:endParaRPr lang="en-GB" sz="40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D2164-78D0-C941-0AA6-5A51048A0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9</a:t>
            </a:fld>
            <a:endParaRPr lang="en-GB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CD736D3-6A1C-E714-4158-7267A7A7D3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2230690"/>
              </p:ext>
            </p:extLst>
          </p:nvPr>
        </p:nvGraphicFramePr>
        <p:xfrm>
          <a:off x="1602442" y="3002388"/>
          <a:ext cx="7059706" cy="21945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554506">
                  <a:extLst>
                    <a:ext uri="{9D8B030D-6E8A-4147-A177-3AD203B41FA5}">
                      <a16:colId xmlns:a16="http://schemas.microsoft.com/office/drawing/2014/main" val="35645310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255407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 b="1" dirty="0" err="1"/>
                        <a:t>Category</a:t>
                      </a:r>
                      <a:endParaRPr lang="de-DE" dirty="0"/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Main Tools</a:t>
                      </a:r>
                      <a:endParaRPr lang="de-DE" dirty="0"/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529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dirty="0"/>
                        <a:t>Data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Python, pandas, NumPy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502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dirty="0"/>
                        <a:t>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TensorFlow, Keras, scikit-learn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2563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/>
                        <a:t>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RMSE, MAE, Precision, 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649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/>
                        <a:t>API &amp;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FastAPI, Streamlit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3173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/>
                        <a:t>Explainability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SHAP, LIME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849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22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BCBDB-288E-68A1-F3D8-45D600F42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FFFFFF"/>
                </a:solidFill>
                <a:latin typeface="Times New Roman"/>
                <a:cs typeface="Times New Roman"/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FB5EA-560F-0E8F-3665-94075205C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587089"/>
            <a:ext cx="9724031" cy="441446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 dirty="0">
                <a:latin typeface="Times New Roman"/>
                <a:ea typeface="+mn-lt"/>
                <a:cs typeface="+mn-lt"/>
              </a:rPr>
              <a:t>Incomplete or inconsistent ERP data</a:t>
            </a:r>
            <a:endParaRPr lang="en-GB" sz="2000" dirty="0">
              <a:latin typeface="Times New Roman"/>
              <a:cs typeface="Times New Roman"/>
            </a:endParaRPr>
          </a:p>
          <a:p>
            <a:r>
              <a:rPr lang="en-GB" sz="2000" dirty="0">
                <a:latin typeface="Times New Roman"/>
                <a:ea typeface="+mn-lt"/>
                <a:cs typeface="+mn-lt"/>
              </a:rPr>
              <a:t>Changing supplier lead-time patterns</a:t>
            </a:r>
            <a:endParaRPr lang="en-GB" sz="2000" dirty="0">
              <a:latin typeface="Times New Roman"/>
              <a:cs typeface="Times New Roman"/>
            </a:endParaRPr>
          </a:p>
          <a:p>
            <a:r>
              <a:rPr lang="en-GB" sz="2000" dirty="0">
                <a:latin typeface="Times New Roman"/>
                <a:ea typeface="+mn-lt"/>
                <a:cs typeface="+mn-lt"/>
              </a:rPr>
              <a:t>Limited historical data for some suppliers</a:t>
            </a:r>
            <a:endParaRPr lang="en-GB" sz="2000" dirty="0">
              <a:latin typeface="Times New Roman"/>
              <a:cs typeface="Times New Roman"/>
            </a:endParaRPr>
          </a:p>
          <a:p>
            <a:r>
              <a:rPr lang="en-GB" sz="2000" dirty="0">
                <a:latin typeface="Times New Roman"/>
                <a:ea typeface="+mn-lt"/>
                <a:cs typeface="+mn-lt"/>
              </a:rPr>
              <a:t>Complex feature selection and tuning</a:t>
            </a:r>
            <a:endParaRPr lang="en-GB" sz="2000" dirty="0">
              <a:latin typeface="Times New Roman"/>
              <a:cs typeface="Times New Roman"/>
            </a:endParaRPr>
          </a:p>
          <a:p>
            <a:r>
              <a:rPr lang="en-GB" sz="2000" dirty="0">
                <a:latin typeface="Times New Roman"/>
                <a:ea typeface="+mn-lt"/>
                <a:cs typeface="+mn-lt"/>
              </a:rPr>
              <a:t>Real-time ERP integration difficulties</a:t>
            </a:r>
            <a:endParaRPr lang="en-GB" sz="2000" dirty="0">
              <a:latin typeface="Times New Roman"/>
              <a:cs typeface="Times New Roman"/>
            </a:endParaRPr>
          </a:p>
          <a:p>
            <a:r>
              <a:rPr lang="en-GB" sz="2000" dirty="0">
                <a:latin typeface="Times New Roman"/>
                <a:ea typeface="+mn-lt"/>
                <a:cs typeface="+mn-lt"/>
              </a:rPr>
              <a:t>Hard to explain model decisions</a:t>
            </a:r>
            <a:endParaRPr lang="en-GB" sz="2000" dirty="0">
              <a:latin typeface="Times New Roman"/>
              <a:cs typeface="Times New Roman"/>
            </a:endParaRPr>
          </a:p>
          <a:p>
            <a:endParaRPr lang="en-GB" sz="20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CF52A-89BA-12AB-1D3B-93BBE4CAC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221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0A967E-7692-8B35-2E5A-54D2FCFC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  <a:latin typeface="Times New Roman"/>
                <a:cs typeface="Times New Roman"/>
              </a:rPr>
              <a:t>Solutions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A1BB174C-035F-F73B-A1A8-47AD60BA3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 b="1" dirty="0">
                <a:latin typeface="Times New Roman"/>
                <a:ea typeface="+mn-lt"/>
                <a:cs typeface="+mn-lt"/>
              </a:rPr>
              <a:t>Data Cleaning &amp; Validation:</a:t>
            </a:r>
            <a:r>
              <a:rPr lang="en-GB" sz="2000" dirty="0">
                <a:latin typeface="Times New Roman"/>
                <a:ea typeface="+mn-lt"/>
                <a:cs typeface="+mn-lt"/>
              </a:rPr>
              <a:t> Apply preprocessing and outlier filtering to improve ERP data quality.</a:t>
            </a:r>
            <a:endParaRPr lang="en-GB" sz="2000" dirty="0">
              <a:latin typeface="Times New Roman"/>
              <a:cs typeface="Times New Roman"/>
            </a:endParaRPr>
          </a:p>
          <a:p>
            <a:r>
              <a:rPr lang="en-GB" sz="2000" b="1" dirty="0">
                <a:latin typeface="Times New Roman"/>
                <a:ea typeface="+mn-lt"/>
                <a:cs typeface="+mn-lt"/>
              </a:rPr>
              <a:t>Dynamic </a:t>
            </a:r>
            <a:r>
              <a:rPr lang="en-GB" sz="2000" b="1" dirty="0" err="1">
                <a:latin typeface="Times New Roman"/>
                <a:ea typeface="+mn-lt"/>
                <a:cs typeface="+mn-lt"/>
              </a:rPr>
              <a:t>Modeling</a:t>
            </a:r>
            <a:r>
              <a:rPr lang="en-GB" sz="2000" b="1" dirty="0">
                <a:latin typeface="Times New Roman"/>
                <a:ea typeface="+mn-lt"/>
                <a:cs typeface="+mn-lt"/>
              </a:rPr>
              <a:t>:</a:t>
            </a:r>
            <a:r>
              <a:rPr lang="en-GB" sz="2000" dirty="0">
                <a:latin typeface="Times New Roman"/>
                <a:ea typeface="+mn-lt"/>
                <a:cs typeface="+mn-lt"/>
              </a:rPr>
              <a:t> Retrain models periodically to adapt to changing supplier patterns.</a:t>
            </a:r>
            <a:endParaRPr lang="en-GB" sz="2000" dirty="0">
              <a:latin typeface="Times New Roman"/>
              <a:cs typeface="Times New Roman"/>
            </a:endParaRPr>
          </a:p>
          <a:p>
            <a:r>
              <a:rPr lang="en-GB" sz="2000" b="1" dirty="0">
                <a:latin typeface="Times New Roman"/>
                <a:ea typeface="+mn-lt"/>
                <a:cs typeface="+mn-lt"/>
              </a:rPr>
              <a:t>Data Augmentation:</a:t>
            </a:r>
            <a:r>
              <a:rPr lang="en-GB" sz="2000" dirty="0">
                <a:latin typeface="Times New Roman"/>
                <a:ea typeface="+mn-lt"/>
                <a:cs typeface="+mn-lt"/>
              </a:rPr>
              <a:t> Use simulated or synthetic data to strengthen small supplier datasets.</a:t>
            </a:r>
            <a:endParaRPr lang="en-GB" sz="2000" dirty="0">
              <a:latin typeface="Times New Roman"/>
              <a:cs typeface="Times New Roman"/>
            </a:endParaRPr>
          </a:p>
          <a:p>
            <a:r>
              <a:rPr lang="en-GB" sz="2000" b="1" dirty="0">
                <a:latin typeface="Times New Roman"/>
                <a:ea typeface="+mn-lt"/>
                <a:cs typeface="+mn-lt"/>
              </a:rPr>
              <a:t>Feature Optimization:</a:t>
            </a:r>
            <a:r>
              <a:rPr lang="en-GB" sz="2000" dirty="0">
                <a:latin typeface="Times New Roman"/>
                <a:ea typeface="+mn-lt"/>
                <a:cs typeface="+mn-lt"/>
              </a:rPr>
              <a:t> Use correlation analysis or SHAP values to select key features.</a:t>
            </a:r>
            <a:endParaRPr lang="en-GB" sz="2000" dirty="0">
              <a:latin typeface="Times New Roman"/>
              <a:cs typeface="Times New Roman"/>
            </a:endParaRPr>
          </a:p>
          <a:p>
            <a:r>
              <a:rPr lang="en-GB" sz="2000" b="1" dirty="0">
                <a:latin typeface="Times New Roman"/>
                <a:ea typeface="+mn-lt"/>
                <a:cs typeface="+mn-lt"/>
              </a:rPr>
              <a:t>System Integration:</a:t>
            </a:r>
            <a:r>
              <a:rPr lang="en-GB" sz="2000" dirty="0">
                <a:latin typeface="Times New Roman"/>
                <a:ea typeface="+mn-lt"/>
                <a:cs typeface="+mn-lt"/>
              </a:rPr>
              <a:t> Deploy models through </a:t>
            </a:r>
            <a:r>
              <a:rPr lang="en-GB" sz="2000" b="1" dirty="0" err="1">
                <a:latin typeface="Times New Roman"/>
                <a:ea typeface="+mn-lt"/>
                <a:cs typeface="+mn-lt"/>
              </a:rPr>
              <a:t>FastAPI</a:t>
            </a:r>
            <a:r>
              <a:rPr lang="en-GB" sz="2000" dirty="0">
                <a:latin typeface="Times New Roman"/>
                <a:ea typeface="+mn-lt"/>
                <a:cs typeface="+mn-lt"/>
              </a:rPr>
              <a:t> and connect with ERP for real-time updates.</a:t>
            </a:r>
            <a:endParaRPr lang="en-GB" sz="2000" dirty="0">
              <a:latin typeface="Times New Roman"/>
              <a:cs typeface="Times New Roman"/>
            </a:endParaRPr>
          </a:p>
          <a:p>
            <a:r>
              <a:rPr lang="en-GB" sz="2000" b="1" dirty="0">
                <a:latin typeface="Times New Roman"/>
                <a:ea typeface="+mn-lt"/>
                <a:cs typeface="+mn-lt"/>
              </a:rPr>
              <a:t>Explainability Tools:</a:t>
            </a:r>
            <a:r>
              <a:rPr lang="en-GB" sz="2000" dirty="0">
                <a:latin typeface="Times New Roman"/>
                <a:ea typeface="+mn-lt"/>
                <a:cs typeface="+mn-lt"/>
              </a:rPr>
              <a:t> Integrate </a:t>
            </a:r>
            <a:r>
              <a:rPr lang="en-GB" sz="2000" b="1" dirty="0">
                <a:latin typeface="Times New Roman"/>
                <a:ea typeface="+mn-lt"/>
                <a:cs typeface="+mn-lt"/>
              </a:rPr>
              <a:t>SHAP or LIME</a:t>
            </a:r>
            <a:r>
              <a:rPr lang="en-GB" sz="2000" dirty="0">
                <a:latin typeface="Times New Roman"/>
                <a:ea typeface="+mn-lt"/>
                <a:cs typeface="+mn-lt"/>
              </a:rPr>
              <a:t> to make model predictions transparent.</a:t>
            </a:r>
            <a:endParaRPr lang="en-GB" sz="2000" dirty="0">
              <a:latin typeface="Times New Roman"/>
              <a:cs typeface="Times New Roman"/>
            </a:endParaRPr>
          </a:p>
          <a:p>
            <a:endParaRPr lang="en-GB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48A389-9AB8-597D-5B77-C70EEE8F7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529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F3CF9-8B16-D0B5-AC2B-AEE54CBBF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03FC35B-577E-F15F-C1B7-F5FA27E5E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8B1897-83E1-2765-AAC1-337593DDD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7F6780B-4587-5460-9D6B-BB6B8820C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FFD6AD-9617-438D-74C1-D3751157F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267F13B-5C73-4FA9-87D0-635E4C475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869545-EB5D-3DCC-CDF9-B0DEE49C1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B35BA290-C819-6699-ED4D-4EBF5145B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sz="2000" dirty="0">
                <a:latin typeface="Times New Roman"/>
                <a:ea typeface="+mn-lt"/>
                <a:cs typeface="+mn-lt"/>
              </a:rPr>
              <a:t>A. </a:t>
            </a:r>
            <a:r>
              <a:rPr lang="en-US" sz="2000" dirty="0" err="1">
                <a:latin typeface="Times New Roman"/>
                <a:ea typeface="+mn-lt"/>
                <a:cs typeface="+mn-lt"/>
              </a:rPr>
              <a:t>Amellal</a:t>
            </a:r>
            <a:r>
              <a:rPr lang="en-US" sz="2000" dirty="0">
                <a:latin typeface="Times New Roman"/>
                <a:ea typeface="+mn-lt"/>
                <a:cs typeface="+mn-lt"/>
              </a:rPr>
              <a:t>, I. </a:t>
            </a:r>
            <a:r>
              <a:rPr lang="en-US" sz="2000" dirty="0" err="1">
                <a:latin typeface="Times New Roman"/>
                <a:ea typeface="+mn-lt"/>
                <a:cs typeface="+mn-lt"/>
              </a:rPr>
              <a:t>Amellal</a:t>
            </a:r>
            <a:r>
              <a:rPr lang="en-US" sz="2000" dirty="0">
                <a:latin typeface="Times New Roman"/>
                <a:ea typeface="+mn-lt"/>
                <a:cs typeface="+mn-lt"/>
              </a:rPr>
              <a:t>, H. </a:t>
            </a:r>
            <a:r>
              <a:rPr lang="en-US" sz="2000" dirty="0" err="1">
                <a:latin typeface="Times New Roman"/>
                <a:ea typeface="+mn-lt"/>
                <a:cs typeface="+mn-lt"/>
              </a:rPr>
              <a:t>Seghiouer</a:t>
            </a:r>
            <a:r>
              <a:rPr lang="en-US" sz="2000" dirty="0">
                <a:latin typeface="Times New Roman"/>
                <a:ea typeface="+mn-lt"/>
                <a:cs typeface="+mn-lt"/>
              </a:rPr>
              <a:t>, and M. R. </a:t>
            </a:r>
            <a:r>
              <a:rPr lang="en-US" sz="2000" dirty="0" err="1">
                <a:latin typeface="Times New Roman"/>
                <a:ea typeface="+mn-lt"/>
                <a:cs typeface="+mn-lt"/>
              </a:rPr>
              <a:t>Ech-Charrat</a:t>
            </a:r>
            <a:r>
              <a:rPr lang="en-US" sz="2000" dirty="0">
                <a:latin typeface="Times New Roman"/>
                <a:ea typeface="+mn-lt"/>
                <a:cs typeface="+mn-lt"/>
              </a:rPr>
              <a:t>, “Improving Lead Time Forecasting and Anomaly Detection for Automotive Spare Parts with a Combined CNN-LSTM Approach,” Operations and Supply Chain Management, vol. 16, no. 2, pp. 265–278, 2023.</a:t>
            </a:r>
          </a:p>
          <a:p>
            <a:endParaRPr lang="en-GB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AC2404-AFC5-CF4C-503D-9A3EB66C7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165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6EAA4-2F6F-B0B2-8638-38F107EC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Data,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problem</a:t>
            </a:r>
            <a:r>
              <a:rPr lang="de-DE" dirty="0"/>
              <a:t>,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hould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trying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predict</a:t>
            </a:r>
            <a:r>
              <a:rPr lang="de-DE" dirty="0"/>
              <a:t>, time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output,why</a:t>
            </a:r>
            <a:r>
              <a:rPr lang="de-DE" dirty="0"/>
              <a:t> </a:t>
            </a:r>
            <a:r>
              <a:rPr lang="de-DE" dirty="0" err="1"/>
              <a:t>lstm</a:t>
            </a:r>
            <a:r>
              <a:rPr lang="de-DE" dirty="0"/>
              <a:t> </a:t>
            </a:r>
            <a:r>
              <a:rPr lang="de-DE" dirty="0" err="1"/>
              <a:t>difference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bilstm</a:t>
            </a:r>
            <a:r>
              <a:rPr lang="de-DE" dirty="0"/>
              <a:t> and </a:t>
            </a:r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lstm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why</a:t>
            </a:r>
            <a:r>
              <a:rPr lang="de-DE" dirty="0"/>
              <a:t> not?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4ACFE-AE69-3399-D150-A1224B880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e-DE" sz="4000" dirty="0">
              <a:solidFill>
                <a:srgbClr val="FF0000"/>
              </a:solidFill>
              <a:latin typeface="Sitka Heading Semibold" pitchFamily="2" charset="0"/>
            </a:endParaRPr>
          </a:p>
          <a:p>
            <a:pPr marL="0" indent="0" algn="ctr">
              <a:buNone/>
            </a:pPr>
            <a:endParaRPr lang="de-DE" sz="4000" dirty="0">
              <a:solidFill>
                <a:srgbClr val="FF0000"/>
              </a:solidFill>
              <a:latin typeface="Sitka Heading Semibold" pitchFamily="2" charset="0"/>
            </a:endParaRPr>
          </a:p>
          <a:p>
            <a:pPr marL="0" indent="0" algn="ctr">
              <a:buNone/>
            </a:pPr>
            <a:r>
              <a:rPr lang="de-DE" sz="4000" dirty="0" err="1">
                <a:solidFill>
                  <a:schemeClr val="accent1"/>
                </a:solidFill>
                <a:latin typeface="Sitka Heading Semibold" pitchFamily="2" charset="0"/>
              </a:rPr>
              <a:t>Thank</a:t>
            </a:r>
            <a:r>
              <a:rPr lang="de-DE" sz="4000" dirty="0">
                <a:solidFill>
                  <a:schemeClr val="accent1"/>
                </a:solidFill>
                <a:latin typeface="Sitka Heading Semibold" pitchFamily="2" charset="0"/>
              </a:rPr>
              <a:t> </a:t>
            </a:r>
            <a:r>
              <a:rPr lang="de-DE" sz="4000" dirty="0" err="1">
                <a:solidFill>
                  <a:schemeClr val="accent1"/>
                </a:solidFill>
                <a:latin typeface="Sitka Heading Semibold" pitchFamily="2" charset="0"/>
              </a:rPr>
              <a:t>You</a:t>
            </a:r>
            <a:r>
              <a:rPr lang="de-DE" sz="4000" dirty="0">
                <a:solidFill>
                  <a:schemeClr val="accent1"/>
                </a:solidFill>
                <a:latin typeface="Sitka Heading Semibold" pitchFamily="2" charset="0"/>
              </a:rPr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46623-1F03-D54D-D6A0-139576FE3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23575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0</TotalTime>
  <Words>732</Words>
  <Application>Microsoft Office PowerPoint</Application>
  <PresentationFormat>Widescreen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Corbel</vt:lpstr>
      <vt:lpstr>Sitka Heading Semibold</vt:lpstr>
      <vt:lpstr>Times New Roman</vt:lpstr>
      <vt:lpstr>office theme</vt:lpstr>
      <vt:lpstr>Parallax</vt:lpstr>
      <vt:lpstr>AI-Based Lead-Time Forecasting and Anomaly Detection in Supply Chain Using CNN-BiLSTM and LSTM-Autoencoder   Case Study- Intelligence System In Production (Group B)</vt:lpstr>
      <vt:lpstr>Content</vt:lpstr>
      <vt:lpstr>Problem Statement</vt:lpstr>
      <vt:lpstr>Objective</vt:lpstr>
      <vt:lpstr>Model 1: Lead-Time Forecasting (CNN–BiLSTM)</vt:lpstr>
      <vt:lpstr>Model 2: Anomaly Detection (LSTM-AE + OCSVM)</vt:lpstr>
      <vt:lpstr>Model Roles</vt:lpstr>
      <vt:lpstr>System Architecture</vt:lpstr>
      <vt:lpstr>Tools &amp; Technologies</vt:lpstr>
      <vt:lpstr>Challenges</vt:lpstr>
      <vt:lpstr>Solutions</vt:lpstr>
      <vt:lpstr>References</vt:lpstr>
      <vt:lpstr>Data, what is the main problem, what hould you trying to predict, time what is the output,why lstm difference between bilstm and why only lstm other why not?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Dhruvalkumar Baria</dc:creator>
  <cp:lastModifiedBy>Dhruvalkumar Baria</cp:lastModifiedBy>
  <cp:revision>174</cp:revision>
  <dcterms:created xsi:type="dcterms:W3CDTF">2025-10-15T17:54:15Z</dcterms:created>
  <dcterms:modified xsi:type="dcterms:W3CDTF">2025-10-16T10:33:18Z</dcterms:modified>
</cp:coreProperties>
</file>